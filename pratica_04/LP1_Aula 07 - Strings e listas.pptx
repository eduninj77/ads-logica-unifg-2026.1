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7"/>
  </p:notesMasterIdLst>
  <p:sldIdLst>
    <p:sldId id="257" r:id="rId2"/>
    <p:sldId id="258" r:id="rId3"/>
    <p:sldId id="260" r:id="rId4"/>
    <p:sldId id="262" r:id="rId5"/>
    <p:sldId id="264" r:id="rId6"/>
    <p:sldId id="266" r:id="rId7"/>
    <p:sldId id="268" r:id="rId8"/>
    <p:sldId id="270" r:id="rId9"/>
    <p:sldId id="272" r:id="rId10"/>
    <p:sldId id="274" r:id="rId11"/>
    <p:sldId id="276" r:id="rId12"/>
    <p:sldId id="278" r:id="rId13"/>
    <p:sldId id="280" r:id="rId14"/>
    <p:sldId id="282" r:id="rId15"/>
    <p:sldId id="284" r:id="rId16"/>
    <p:sldId id="286" r:id="rId17"/>
    <p:sldId id="288" r:id="rId18"/>
    <p:sldId id="290" r:id="rId19"/>
    <p:sldId id="292" r:id="rId20"/>
    <p:sldId id="294" r:id="rId21"/>
    <p:sldId id="296" r:id="rId22"/>
    <p:sldId id="298" r:id="rId23"/>
    <p:sldId id="300" r:id="rId24"/>
    <p:sldId id="302" r:id="rId25"/>
    <p:sldId id="304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D642883-BA0C-44AA-9594-52904E38D95D}">
  <a:tblStyle styleId="{ED642883-BA0C-44AA-9594-52904E38D95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-6" y="-1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15328428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g3e15328428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153284285_0_3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g3e153284285_0_3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153284285_0_5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g3e153284285_0_5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153284285_0_6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g3e153284285_0_6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e153284285_0_8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g3e153284285_0_8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e153284285_0_10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g3e153284285_0_10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e153284285_0_12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g3e153284285_0_1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e153284285_0_14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g3e153284285_0_14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e153284285_0_16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g3e153284285_0_16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e153284285_0_18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g3e153284285_0_18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e153284285_0_20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g3e153284285_0_20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e153284285_0_2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g3e153284285_0_2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e153284285_0_23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g3e153284285_0_23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e153284285_0_25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g3e153284285_0_25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e153284285_0_2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g3e153284285_0_2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e153284285_0_29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g3e153284285_0_29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e153284285_0_30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g3e153284285_0_30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e153284285_0_3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g3e153284285_0_3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e153284285_0_34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g3e153284285_0_34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e153284285_0_36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g3e153284285_0_36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e153284285_0_38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g3e153284285_0_38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3e153284285_0_40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3" name="Google Shape;773;g3e153284285_0_40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3e153284285_0_4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g3e153284285_0_4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e153284285_0_44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g3e153284285_0_44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 descr="A high-quality, professional dark mode background of a Visual Studio Code (VS Code) interface with clean Python code. The image has a heavy dark blue and navy overlay (opacity 0.8) to create a subtle technical texture that maintains high contrast for foreground tex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71500" y="476250"/>
            <a:ext cx="7620000" cy="73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Strings e Listas em Python</a:t>
            </a:r>
            <a:endParaRPr sz="4800" b="1">
              <a:solidFill>
                <a:srgbClr val="F8FA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" name="Google Shape;99;p14"/>
          <p:cNvGrpSpPr/>
          <p:nvPr/>
        </p:nvGrpSpPr>
        <p:grpSpPr>
          <a:xfrm>
            <a:off x="752475" y="1704975"/>
            <a:ext cx="4781700" cy="3438600"/>
            <a:chOff x="752475" y="1704975"/>
            <a:chExt cx="4781700" cy="3438600"/>
          </a:xfrm>
        </p:grpSpPr>
        <p:pic>
          <p:nvPicPr>
            <p:cNvPr id="100" name="Google Shape;100;p1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52475" y="1704975"/>
              <a:ext cx="4781700" cy="343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" name="Google Shape;101;p14"/>
            <p:cNvSpPr txBox="1"/>
            <p:nvPr/>
          </p:nvSpPr>
          <p:spPr>
            <a:xfrm>
              <a:off x="952500" y="1905000"/>
              <a:ext cx="4381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142875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str</a:t>
              </a:r>
              <a:endPara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E2E8F0"/>
                  </a:solidFill>
                  <a:latin typeface="Calibri"/>
                  <a:ea typeface="Calibri"/>
                  <a:cs typeface="Calibri"/>
                  <a:sym typeface="Calibri"/>
                </a:rPr>
                <a:t>Imutáveis e indexadas. Perfeitas para textos e mensagens.</a:t>
              </a:r>
              <a:endParaRPr sz="14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142875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list</a:t>
              </a:r>
              <a:endPara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E2E8F0"/>
                  </a:solidFill>
                  <a:latin typeface="Calibri"/>
                  <a:ea typeface="Calibri"/>
                  <a:cs typeface="Calibri"/>
                  <a:sym typeface="Calibri"/>
                </a:rPr>
                <a:t>Mutáveis e versáteis. Ideais para agrupamento de dados.</a:t>
              </a:r>
              <a:endParaRPr sz="14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142875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for</a:t>
              </a:r>
              <a:endPara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E2E8F0"/>
                  </a:solidFill>
                  <a:latin typeface="Calibri"/>
                  <a:ea typeface="Calibri"/>
                  <a:cs typeface="Calibri"/>
                  <a:sym typeface="Calibri"/>
                </a:rPr>
                <a:t>A ferramenta essencial para percorrer elementos de forma eficiente.</a:t>
              </a:r>
              <a:endParaRPr sz="14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Google Shape;102;p14"/>
          <p:cNvSpPr/>
          <p:nvPr/>
        </p:nvSpPr>
        <p:spPr>
          <a:xfrm>
            <a:off x="6286500" y="1714500"/>
            <a:ext cx="2476500" cy="1428900"/>
          </a:xfrm>
          <a:prstGeom prst="roundRect">
            <a:avLst>
              <a:gd name="adj" fmla="val 8000"/>
            </a:avLst>
          </a:prstGeom>
          <a:solidFill>
            <a:srgbClr val="1E293B">
              <a:alpha val="60000"/>
            </a:srgbClr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str</a:t>
            </a:r>
            <a:endParaRPr sz="2800" b="1">
              <a:solidFill>
                <a:srgbClr val="60A5F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texto</a:t>
            </a:r>
            <a:endParaRPr sz="1600" b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8953500" y="1714500"/>
            <a:ext cx="2476500" cy="1428900"/>
          </a:xfrm>
          <a:prstGeom prst="roundRect">
            <a:avLst>
              <a:gd name="adj" fmla="val 8000"/>
            </a:avLst>
          </a:prstGeom>
          <a:solidFill>
            <a:srgbClr val="1E293B">
              <a:alpha val="60000"/>
            </a:srgbClr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list</a:t>
            </a:r>
            <a:endParaRPr sz="2800" b="1">
              <a:solidFill>
                <a:srgbClr val="38BDF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coleção</a:t>
            </a:r>
            <a:endParaRPr sz="1600" b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6286500" y="3333750"/>
            <a:ext cx="2476500" cy="1428900"/>
          </a:xfrm>
          <a:prstGeom prst="roundRect">
            <a:avLst>
              <a:gd name="adj" fmla="val 8000"/>
            </a:avLst>
          </a:prstGeom>
          <a:solidFill>
            <a:srgbClr val="1E293B">
              <a:alpha val="60000"/>
            </a:srgbClr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endParaRPr sz="2800" b="1">
              <a:solidFill>
                <a:srgbClr val="34D3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percurso</a:t>
            </a:r>
            <a:endParaRPr sz="1600" b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8953500" y="3333750"/>
            <a:ext cx="2476500" cy="1428900"/>
          </a:xfrm>
          <a:prstGeom prst="roundRect">
            <a:avLst>
              <a:gd name="adj" fmla="val 8000"/>
            </a:avLst>
          </a:prstGeom>
          <a:solidFill>
            <a:srgbClr val="1E293B">
              <a:alpha val="60000"/>
            </a:srgbClr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[]</a:t>
            </a:r>
            <a:endParaRPr sz="2800" b="1">
              <a:solidFill>
                <a:srgbClr val="F8717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índice</a:t>
            </a:r>
            <a:endParaRPr sz="1600" b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6286500" y="4953000"/>
            <a:ext cx="5143500" cy="2463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1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Execução guiada, depuração e projeto integrado</a:t>
            </a:r>
            <a:endParaRPr sz="1600" b="0" i="1">
              <a:solidFill>
                <a:srgbClr val="F1F5F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685800" y="5905500"/>
            <a:ext cx="82296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Prof. Anderson Marcolino</a:t>
            </a:r>
            <a:endParaRPr sz="1800" b="0" i="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65760" y="6492240"/>
            <a:ext cx="114300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9525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1/29</a:t>
            </a:r>
            <a:endParaRPr sz="1000" b="0" i="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/>
          <p:cNvPicPr preferRelativeResize="0"/>
          <p:nvPr/>
        </p:nvPicPr>
        <p:blipFill rotWithShape="1">
          <a:blip r:embed="rId3">
            <a:alphaModFix/>
          </a:blip>
          <a:srcRect l="1485" r="1475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A sleek, 3D isometric infographic representing data structures in Python. It shows stylized 'string' blocks (text) being processed and sorted into 'list' containers (shelves). The scene uses a futuristic laboratory aesthetic with neon blue, emerald green accents, and glowing geometric shapes on a dark background, perfectly representing the transition from raw text to structured data collections."/>
          <p:cNvPicPr preferRelativeResize="0"/>
          <p:nvPr/>
        </p:nvPicPr>
        <p:blipFill rotWithShape="1">
          <a:blip r:embed="rId4">
            <a:alphaModFix/>
          </a:blip>
          <a:srcRect l="2714" r="2723"/>
          <a:stretch/>
        </p:blipFill>
        <p:spPr>
          <a:xfrm>
            <a:off x="571500" y="1524000"/>
            <a:ext cx="5524500" cy="438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457200" y="320040"/>
            <a:ext cx="11064300" cy="5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11430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da aula</a:t>
            </a:r>
            <a:endParaRPr sz="3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6" name="Google Shape;116;p15"/>
          <p:cNvGrpSpPr/>
          <p:nvPr/>
        </p:nvGrpSpPr>
        <p:grpSpPr>
          <a:xfrm>
            <a:off x="6400800" y="1095375"/>
            <a:ext cx="5334000" cy="4810200"/>
            <a:chOff x="6400800" y="1095375"/>
            <a:chExt cx="5334000" cy="4810200"/>
          </a:xfrm>
        </p:grpSpPr>
        <p:sp>
          <p:nvSpPr>
            <p:cNvPr id="117" name="Google Shape;117;p15"/>
            <p:cNvSpPr/>
            <p:nvPr/>
          </p:nvSpPr>
          <p:spPr>
            <a:xfrm>
              <a:off x="6400800" y="1095375"/>
              <a:ext cx="5334000" cy="4810200"/>
            </a:xfrm>
            <a:prstGeom prst="roundRect">
              <a:avLst>
                <a:gd name="adj" fmla="val 2970"/>
              </a:avLst>
            </a:prstGeom>
            <a:solidFill>
              <a:srgbClr val="1E293B">
                <a:alpha val="85000"/>
              </a:srgbClr>
            </a:solidFill>
            <a:ln w="143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5"/>
            <p:cNvSpPr txBox="1"/>
            <p:nvPr/>
          </p:nvSpPr>
          <p:spPr>
            <a:xfrm>
              <a:off x="6591300" y="1285875"/>
              <a:ext cx="4953000" cy="442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60A5FA"/>
                  </a:solidFill>
                  <a:latin typeface="Calibri"/>
                  <a:ea typeface="Calibri"/>
                  <a:cs typeface="Calibri"/>
                  <a:sym typeface="Calibri"/>
                </a:rPr>
                <a:t>Compreender strings e listas</a:t>
              </a:r>
              <a:endParaRPr sz="1800" b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Distinguir o papel do texto e das coleções lineares em problemas introdutórios.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34D399"/>
                  </a:solidFill>
                  <a:latin typeface="Calibri"/>
                  <a:ea typeface="Calibri"/>
                  <a:cs typeface="Calibri"/>
                  <a:sym typeface="Calibri"/>
                </a:rPr>
                <a:t>Operar com índice, fatiamento e iteração</a:t>
              </a:r>
              <a:endParaRPr sz="1800" b="1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Relacionar sintaxe a leitura, seleção e percurso dos dados.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ACC15"/>
                  </a:solidFill>
                  <a:latin typeface="Calibri"/>
                  <a:ea typeface="Calibri"/>
                  <a:cs typeface="Calibri"/>
                  <a:sym typeface="Calibri"/>
                </a:rPr>
                <a:t>Escolher a estrutura adequada</a:t>
              </a:r>
              <a:endParaRPr sz="1800" b="1">
                <a:solidFill>
                  <a:srgbClr val="FACC1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Decidir quando modelar com string e quando modelar com lista.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87171"/>
                  </a:solidFill>
                  <a:latin typeface="Calibri"/>
                  <a:ea typeface="Calibri"/>
                  <a:cs typeface="Calibri"/>
                  <a:sym typeface="Calibri"/>
                </a:rPr>
                <a:t>Preparar a transição para o laboratório</a:t>
              </a:r>
              <a:endParaRPr sz="1800" b="1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Antecipar os padrões de código que serão praticados em seguida.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9" name="Google Shape;119;p15"/>
          <p:cNvSpPr txBox="1"/>
          <p:nvPr/>
        </p:nvSpPr>
        <p:spPr>
          <a:xfrm>
            <a:off x="365760" y="6492240"/>
            <a:ext cx="11430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9050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2/26</a:t>
            </a:r>
            <a:endParaRPr sz="1100" b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7"/>
          <p:cNvPicPr preferRelativeResize="0"/>
          <p:nvPr/>
        </p:nvPicPr>
        <p:blipFill rotWithShape="1">
          <a:blip r:embed="rId3">
            <a:alphaModFix/>
          </a:blip>
          <a:srcRect l="1485" r="1475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457200" y="320040"/>
            <a:ext cx="11064300" cy="5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Problematização inicial</a:t>
            </a:r>
            <a:endParaRPr sz="3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571500" y="1333500"/>
            <a:ext cx="5334000" cy="4381500"/>
          </a:xfrm>
          <a:prstGeom prst="rect">
            <a:avLst/>
          </a:prstGeom>
          <a:solidFill>
            <a:srgbClr val="1E293B">
              <a:alpha val="85000"/>
            </a:srgbClr>
          </a:solidFill>
          <a:ln w="143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85750" tIns="285750" rIns="285750" bIns="2857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35" b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Cenário acadêmico realista</a:t>
            </a:r>
            <a:endParaRPr sz="2035" b="1">
              <a:solidFill>
                <a:srgbClr val="60A5F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295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Cadastro de presença, normalização de nomes e geração de relatórios simples.</a:t>
            </a:r>
            <a:endParaRPr sz="1295" b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875"/>
              </a:spcBef>
              <a:spcAft>
                <a:spcPts val="0"/>
              </a:spcAft>
              <a:buNone/>
            </a:pPr>
            <a:r>
              <a:rPr lang="en-US" sz="2035" b="1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Problema central</a:t>
            </a:r>
            <a:endParaRPr sz="2035" b="1">
              <a:solidFill>
                <a:srgbClr val="34D3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295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Como representar texto e coleções de itens sem perder clareza algorítmica?</a:t>
            </a:r>
            <a:endParaRPr sz="1295" b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875"/>
              </a:spcBef>
              <a:spcAft>
                <a:spcPts val="0"/>
              </a:spcAft>
              <a:buNone/>
            </a:pPr>
            <a:r>
              <a:rPr lang="en-US" sz="2035" b="1">
                <a:solidFill>
                  <a:srgbClr val="FACC15"/>
                </a:solidFill>
                <a:latin typeface="Calibri"/>
                <a:ea typeface="Calibri"/>
                <a:cs typeface="Calibri"/>
                <a:sym typeface="Calibri"/>
              </a:rPr>
              <a:t>Hipótese didática</a:t>
            </a:r>
            <a:endParaRPr sz="2035" b="1">
              <a:solidFill>
                <a:srgbClr val="FACC1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295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Quem domina sequências lineares avança com mais segurança para funções, arquivos e dicionários.</a:t>
            </a:r>
            <a:endParaRPr sz="1295" b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875"/>
              </a:spcBef>
              <a:spcAft>
                <a:spcPts val="0"/>
              </a:spcAft>
              <a:buNone/>
            </a:pPr>
            <a:r>
              <a:rPr lang="en-US" sz="2035" b="1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Pergunta-guia</a:t>
            </a:r>
            <a:endParaRPr sz="2035" b="1">
              <a:solidFill>
                <a:srgbClr val="F8717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295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Como transformar entradas desorganizadas em informação tratável pelo programa?</a:t>
            </a:r>
            <a:endParaRPr sz="1295" b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6191250" y="1238250"/>
            <a:ext cx="5524500" cy="4619700"/>
          </a:xfrm>
          <a:prstGeom prst="roundRect">
            <a:avLst>
              <a:gd name="adj" fmla="val 2474"/>
            </a:avLst>
          </a:prstGeom>
          <a:solidFill>
            <a:srgbClr val="1E293B">
              <a:alpha val="85000"/>
            </a:srgbClr>
          </a:solidFill>
          <a:ln w="143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Sequência de etapas para resolver o problema de forma estruturada.</a:t>
            </a:r>
            <a:endParaRPr sz="1200" b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6477000" y="2000250"/>
            <a:ext cx="2381400" cy="76200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Coletar entradas</a:t>
            </a:r>
            <a:endParaRPr sz="14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9048750" y="2000250"/>
            <a:ext cx="2381400" cy="762000"/>
          </a:xfrm>
          <a:prstGeom prst="roundRect">
            <a:avLst>
              <a:gd name="adj" fmla="val 12500"/>
            </a:avLst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Padronizar texto</a:t>
            </a:r>
            <a:endParaRPr sz="14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6477000" y="2952750"/>
            <a:ext cx="2381400" cy="76200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Armazenar em lista</a:t>
            </a:r>
            <a:endParaRPr sz="14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9048750" y="2952750"/>
            <a:ext cx="2381400" cy="762000"/>
          </a:xfrm>
          <a:prstGeom prst="roundRect">
            <a:avLst>
              <a:gd name="adj" fmla="val 12500"/>
            </a:avLst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Percorrer</a:t>
            </a:r>
            <a:endParaRPr sz="14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6477000" y="3905250"/>
            <a:ext cx="2381400" cy="76200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Buscar/filtrar</a:t>
            </a:r>
            <a:endParaRPr sz="14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9048750" y="3905250"/>
            <a:ext cx="2381400" cy="762000"/>
          </a:xfrm>
          <a:prstGeom prst="roundRect">
            <a:avLst>
              <a:gd name="adj" fmla="val 12500"/>
            </a:avLst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6. Exibir resultado</a:t>
            </a:r>
            <a:endParaRPr sz="14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365760" y="6492240"/>
            <a:ext cx="114300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9050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3 / 26</a:t>
            </a:r>
            <a:endParaRPr sz="1200" b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9"/>
          <p:cNvPicPr preferRelativeResize="0"/>
          <p:nvPr/>
        </p:nvPicPr>
        <p:blipFill rotWithShape="1">
          <a:blip r:embed="rId3">
            <a:alphaModFix/>
          </a:blip>
          <a:srcRect l="1485" r="1475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>
            <a:off x="457200" y="285750"/>
            <a:ext cx="11277600" cy="492600"/>
          </a:xfrm>
          <a:prstGeom prst="rect">
            <a:avLst/>
          </a:prstGeom>
          <a:solidFill>
            <a:srgbClr val="1E293B">
              <a:alpha val="85000"/>
            </a:srgb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50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Relevância prática do tema</a:t>
            </a:r>
            <a:endParaRPr sz="32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3" name="Google Shape;163;p19"/>
          <p:cNvGrpSpPr/>
          <p:nvPr/>
        </p:nvGrpSpPr>
        <p:grpSpPr>
          <a:xfrm>
            <a:off x="476250" y="1238250"/>
            <a:ext cx="5238900" cy="4572000"/>
            <a:chOff x="476250" y="1238250"/>
            <a:chExt cx="5238900" cy="4572000"/>
          </a:xfrm>
        </p:grpSpPr>
        <p:sp>
          <p:nvSpPr>
            <p:cNvPr id="164" name="Google Shape;164;p19"/>
            <p:cNvSpPr/>
            <p:nvPr/>
          </p:nvSpPr>
          <p:spPr>
            <a:xfrm>
              <a:off x="476250" y="1238250"/>
              <a:ext cx="5238900" cy="4572000"/>
            </a:xfrm>
            <a:prstGeom prst="roundRect">
              <a:avLst>
                <a:gd name="adj" fmla="val 3125"/>
              </a:avLst>
            </a:prstGeom>
            <a:solidFill>
              <a:srgbClr val="1E293B">
                <a:alpha val="70000"/>
              </a:srgbClr>
            </a:solidFill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9"/>
            <p:cNvSpPr txBox="1"/>
            <p:nvPr/>
          </p:nvSpPr>
          <p:spPr>
            <a:xfrm>
              <a:off x="666750" y="1428750"/>
              <a:ext cx="48579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>
                  <a:solidFill>
                    <a:srgbClr val="60A5FA"/>
                  </a:solidFill>
                  <a:latin typeface="Calibri"/>
                  <a:ea typeface="Calibri"/>
                  <a:cs typeface="Calibri"/>
                  <a:sym typeface="Calibri"/>
                </a:rPr>
                <a:t>Mapeamento de Aplicações</a:t>
              </a:r>
              <a:endParaRPr sz="2200" b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Sistemas de Cadastro</a:t>
              </a:r>
              <a:endParaRPr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Listas de usuários, nomes (strings), validação de dados.</a:t>
              </a:r>
              <a:endParaRPr sz="15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Integração via APIs</a:t>
              </a:r>
              <a:endParaRPr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JSONs convertidos em listas e strings para processamento.</a:t>
              </a:r>
              <a:endParaRPr sz="15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Análise de Logs</a:t>
              </a:r>
              <a:endParaRPr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Busca de padrões em strings e armazenamento de eventos em listas.</a:t>
              </a:r>
              <a:endParaRPr sz="15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Scripts de Automação</a:t>
              </a:r>
              <a:endParaRPr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Iteração sobre arquivos e manipulação de caminhos/diretórios.</a:t>
              </a:r>
              <a:endParaRPr sz="15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6" name="Google Shape;166;p19"/>
          <p:cNvSpPr txBox="1"/>
          <p:nvPr/>
        </p:nvSpPr>
        <p:spPr>
          <a:xfrm>
            <a:off x="6191250" y="1238250"/>
            <a:ext cx="5524500" cy="4572000"/>
          </a:xfrm>
          <a:prstGeom prst="rect">
            <a:avLst/>
          </a:prstGeom>
          <a:solidFill>
            <a:srgbClr val="1E293B">
              <a:alpha val="85000"/>
            </a:srgbClr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Automação de rotinas</a:t>
            </a:r>
            <a:endParaRPr sz="1800" b="1">
              <a:solidFill>
                <a:srgbClr val="60A5F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Listas e strings aparecem em cadastros, planilhas, logs, APIs e scripts.</a:t>
            </a:r>
            <a:endParaRPr sz="1300" b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Pensamento computacional</a:t>
            </a:r>
            <a:endParaRPr sz="1800" b="1">
              <a:solidFill>
                <a:srgbClr val="34D3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As duas estruturas ajudam a abstrair dados e a organizar percursos.</a:t>
            </a:r>
            <a:endParaRPr sz="1300" b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ACC15"/>
                </a:solidFill>
                <a:latin typeface="Calibri"/>
                <a:ea typeface="Calibri"/>
                <a:cs typeface="Calibri"/>
                <a:sym typeface="Calibri"/>
              </a:rPr>
              <a:t>Legibilidade e manutenção</a:t>
            </a:r>
            <a:endParaRPr sz="1800" b="1">
              <a:solidFill>
                <a:srgbClr val="FACC1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Python favorece soluções curtas, mas exige escolha correta da estrutura.</a:t>
            </a:r>
            <a:endParaRPr sz="1300" b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Base para próximos tópicos</a:t>
            </a:r>
            <a:endParaRPr sz="1800" b="1">
              <a:solidFill>
                <a:srgbClr val="F8717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Busca, filtragem e modelagem linear reaparecem em estruturas mais complexas.</a:t>
            </a:r>
            <a:endParaRPr sz="1300" b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10477500" y="6477000"/>
            <a:ext cx="13335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9050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4/26</a:t>
            </a:r>
            <a:endParaRPr sz="1200" b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1"/>
          <p:cNvPicPr preferRelativeResize="0"/>
          <p:nvPr/>
        </p:nvPicPr>
        <p:blipFill rotWithShape="1">
          <a:blip r:embed="rId3">
            <a:alphaModFix/>
          </a:blip>
          <a:srcRect l="1485" r="1475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457200" y="285750"/>
            <a:ext cx="11277600" cy="492600"/>
          </a:xfrm>
          <a:prstGeom prst="rect">
            <a:avLst/>
          </a:prstGeom>
          <a:solidFill>
            <a:srgbClr val="1E293B">
              <a:alpha val="85000"/>
            </a:srgb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50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Sequências em Python: visão geral</a:t>
            </a:r>
            <a:endParaRPr sz="32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571500" y="1333500"/>
            <a:ext cx="5334000" cy="4000500"/>
          </a:xfrm>
          <a:prstGeom prst="rect">
            <a:avLst/>
          </a:prstGeom>
          <a:solidFill>
            <a:srgbClr val="1E293B">
              <a:alpha val="80000"/>
            </a:srgb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500" tIns="190500" rIns="190500" bIns="190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Sequência = ordem preservada</a:t>
            </a:r>
            <a:endParaRPr sz="1800" b="1">
              <a:solidFill>
                <a:srgbClr val="60A5F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Cada elemento ocupa uma posição lógica que pode ser acessada.</a:t>
            </a:r>
            <a:endParaRPr sz="1300" b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Acesso por índice</a:t>
            </a:r>
            <a:endParaRPr sz="1800" b="1">
              <a:solidFill>
                <a:srgbClr val="34D3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 linguagem adota índice de base zero para sequências.</a:t>
            </a:r>
            <a:endParaRPr sz="1300" b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ACC15"/>
                </a:solidFill>
                <a:latin typeface="Calibri"/>
                <a:ea typeface="Calibri"/>
                <a:cs typeface="Calibri"/>
                <a:sym typeface="Calibri"/>
              </a:rPr>
              <a:t>Percurso natural com for</a:t>
            </a:r>
            <a:endParaRPr sz="1800" b="1">
              <a:solidFill>
                <a:srgbClr val="FACC1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O laço percorre os itens na ordem em que aparecem.</a:t>
            </a:r>
            <a:endParaRPr sz="1300" b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Mesma lógica, tipos distintos</a:t>
            </a:r>
            <a:endParaRPr sz="1800" b="1">
              <a:solidFill>
                <a:srgbClr val="F8717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Strings e listas compartilham operações, mas cumprem papéis diferentes.</a:t>
            </a:r>
            <a:endParaRPr sz="1300" b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6191250" y="1238250"/>
            <a:ext cx="5524500" cy="4619700"/>
          </a:xfrm>
          <a:prstGeom prst="roundRect">
            <a:avLst>
              <a:gd name="adj" fmla="val 2474"/>
            </a:avLst>
          </a:prstGeom>
          <a:solidFill>
            <a:srgbClr val="1E293B">
              <a:alpha val="85000"/>
            </a:srgbClr>
          </a:solidFill>
          <a:ln w="143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Diagrama de sequência: string</a:t>
            </a:r>
            <a:endParaRPr sz="1800" b="1">
              <a:solidFill>
                <a:srgbClr val="10B98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p21"/>
          <p:cNvPicPr preferRelativeResize="0"/>
          <p:nvPr/>
        </p:nvPicPr>
        <p:blipFill rotWithShape="1">
          <a:blip r:embed="rId4">
            <a:alphaModFix/>
          </a:blip>
          <a:srcRect t="2498" b="2508"/>
          <a:stretch/>
        </p:blipFill>
        <p:spPr>
          <a:xfrm>
            <a:off x="6381750" y="2000250"/>
            <a:ext cx="5143500" cy="2667000"/>
          </a:xfrm>
          <a:prstGeom prst="roundRect">
            <a:avLst>
              <a:gd name="adj" fmla="val 3571"/>
            </a:avLst>
          </a:prstGeom>
          <a:noFill/>
          <a:ln>
            <a:noFill/>
          </a:ln>
        </p:spPr>
      </p:pic>
      <p:sp>
        <p:nvSpPr>
          <p:cNvPr id="198" name="Google Shape;198;p21"/>
          <p:cNvSpPr txBox="1"/>
          <p:nvPr/>
        </p:nvSpPr>
        <p:spPr>
          <a:xfrm>
            <a:off x="6334125" y="4857750"/>
            <a:ext cx="52389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Sequências preservam ordem e permitem acesso por índice.</a:t>
            </a:r>
            <a:endParaRPr sz="1200" b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200" b="0" i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Representação visual de uma string e seus índices de base zero.</a:t>
            </a:r>
            <a:endParaRPr sz="1200" b="0" i="1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10477500" y="6477000"/>
            <a:ext cx="13335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/ 26</a:t>
            </a:r>
            <a:endParaRPr sz="1200" b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3">
            <a:alphaModFix/>
          </a:blip>
          <a:srcRect l="1485" r="1475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 txBox="1"/>
          <p:nvPr/>
        </p:nvSpPr>
        <p:spPr>
          <a:xfrm>
            <a:off x="457200" y="285750"/>
            <a:ext cx="11064300" cy="492600"/>
          </a:xfrm>
          <a:prstGeom prst="rect">
            <a:avLst/>
          </a:prstGeom>
          <a:solidFill>
            <a:srgbClr val="1E293B">
              <a:alpha val="85000"/>
            </a:srgbClr>
          </a:solidFill>
          <a:ln>
            <a:noFill/>
          </a:ln>
        </p:spPr>
        <p:txBody>
          <a:bodyPr spcFirstLastPara="1" wrap="square" lIns="19050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Strings: definição e propriedades</a:t>
            </a:r>
            <a:endParaRPr sz="32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3"/>
          <p:cNvSpPr txBox="1"/>
          <p:nvPr/>
        </p:nvSpPr>
        <p:spPr>
          <a:xfrm>
            <a:off x="476250" y="1238250"/>
            <a:ext cx="5238900" cy="4381500"/>
          </a:xfrm>
          <a:prstGeom prst="rect">
            <a:avLst/>
          </a:prstGeom>
          <a:solidFill>
            <a:srgbClr val="1E293B">
              <a:alpha val="85000"/>
            </a:srgbClr>
          </a:solidFill>
          <a:ln w="143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Tipo str</a:t>
            </a:r>
            <a:endParaRPr sz="2000" b="1">
              <a:solidFill>
                <a:srgbClr val="60A5F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Representa texto como sequência de caracteres.</a:t>
            </a:r>
            <a:endParaRPr sz="1300" b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Ordem e granularidade</a:t>
            </a:r>
            <a:endParaRPr sz="2000" b="1">
              <a:solidFill>
                <a:srgbClr val="34D3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É possível ler caractere a caractere quando a análise exigir.</a:t>
            </a:r>
            <a:endParaRPr sz="1300" b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ACC15"/>
                </a:solidFill>
                <a:latin typeface="Calibri"/>
                <a:ea typeface="Calibri"/>
                <a:cs typeface="Calibri"/>
                <a:sym typeface="Calibri"/>
              </a:rPr>
              <a:t>Transformação frequente</a:t>
            </a:r>
            <a:endParaRPr sz="2000" b="1">
              <a:solidFill>
                <a:srgbClr val="FACC1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Operações de limpeza e formatação geram versões mais adequadas do texto.</a:t>
            </a:r>
            <a:endParaRPr sz="1300" b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Uso típico</a:t>
            </a:r>
            <a:endParaRPr sz="2000" b="1">
              <a:solidFill>
                <a:srgbClr val="F8717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Nomes, códigos, mensagens, comentários e identificadores.</a:t>
            </a:r>
            <a:endParaRPr sz="1300" b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0" name="Google Shape;230;p23"/>
          <p:cNvGrpSpPr/>
          <p:nvPr/>
        </p:nvGrpSpPr>
        <p:grpSpPr>
          <a:xfrm>
            <a:off x="6191250" y="1238250"/>
            <a:ext cx="5524500" cy="4381500"/>
            <a:chOff x="6191250" y="1238250"/>
            <a:chExt cx="5524500" cy="4381500"/>
          </a:xfrm>
        </p:grpSpPr>
        <p:sp>
          <p:nvSpPr>
            <p:cNvPr id="231" name="Google Shape;231;p23"/>
            <p:cNvSpPr/>
            <p:nvPr/>
          </p:nvSpPr>
          <p:spPr>
            <a:xfrm>
              <a:off x="6191250" y="1238250"/>
              <a:ext cx="5524500" cy="4381500"/>
            </a:xfrm>
            <a:prstGeom prst="roundRect">
              <a:avLst>
                <a:gd name="adj" fmla="val 2608"/>
              </a:avLst>
            </a:prstGeom>
            <a:solidFill>
              <a:srgbClr val="1E293B">
                <a:alpha val="85000"/>
              </a:srgbClr>
            </a:solidFill>
            <a:ln w="143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3"/>
            <p:cNvSpPr txBox="1"/>
            <p:nvPr/>
          </p:nvSpPr>
          <p:spPr>
            <a:xfrm>
              <a:off x="6334125" y="1381125"/>
              <a:ext cx="5238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10B981"/>
                  </a:solidFill>
                  <a:latin typeface="Calibri"/>
                  <a:ea typeface="Calibri"/>
                  <a:cs typeface="Calibri"/>
                  <a:sym typeface="Calibri"/>
                </a:rPr>
                <a:t>Representação de String e Índices</a:t>
              </a:r>
              <a:endParaRPr sz="1800" b="1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3" name="Google Shape;233;p23"/>
            <p:cNvGrpSpPr/>
            <p:nvPr/>
          </p:nvGrpSpPr>
          <p:grpSpPr>
            <a:xfrm>
              <a:off x="6524625" y="2000250"/>
              <a:ext cx="571500" cy="857325"/>
              <a:chOff x="0" y="0"/>
              <a:chExt cx="571500" cy="857325"/>
            </a:xfrm>
          </p:grpSpPr>
          <p:sp>
            <p:nvSpPr>
              <p:cNvPr id="234" name="Google Shape;234;p23"/>
              <p:cNvSpPr/>
              <p:nvPr/>
            </p:nvSpPr>
            <p:spPr>
              <a:xfrm>
                <a:off x="0" y="0"/>
                <a:ext cx="5715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19050" cap="flat" cmpd="sng">
                <a:solidFill>
                  <a:srgbClr val="60A5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23"/>
              <p:cNvSpPr txBox="1"/>
              <p:nvPr/>
            </p:nvSpPr>
            <p:spPr>
              <a:xfrm>
                <a:off x="0" y="0"/>
                <a:ext cx="571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 b="1">
                    <a:solidFill>
                      <a:srgbClr val="1E293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</a:t>
                </a:r>
                <a:endParaRPr sz="2400" b="1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" name="Google Shape;236;p23"/>
              <p:cNvSpPr txBox="1"/>
              <p:nvPr/>
            </p:nvSpPr>
            <p:spPr>
              <a:xfrm>
                <a:off x="0" y="619125"/>
                <a:ext cx="5715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CBD5E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 sz="120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7" name="Google Shape;237;p23"/>
            <p:cNvGrpSpPr/>
            <p:nvPr/>
          </p:nvGrpSpPr>
          <p:grpSpPr>
            <a:xfrm>
              <a:off x="7191375" y="2000250"/>
              <a:ext cx="571500" cy="857325"/>
              <a:chOff x="0" y="0"/>
              <a:chExt cx="571500" cy="857325"/>
            </a:xfrm>
          </p:grpSpPr>
          <p:sp>
            <p:nvSpPr>
              <p:cNvPr id="238" name="Google Shape;238;p23"/>
              <p:cNvSpPr/>
              <p:nvPr/>
            </p:nvSpPr>
            <p:spPr>
              <a:xfrm>
                <a:off x="0" y="0"/>
                <a:ext cx="5715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19050" cap="flat" cmpd="sng">
                <a:solidFill>
                  <a:srgbClr val="60A5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23"/>
              <p:cNvSpPr txBox="1"/>
              <p:nvPr/>
            </p:nvSpPr>
            <p:spPr>
              <a:xfrm>
                <a:off x="0" y="0"/>
                <a:ext cx="571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 b="1">
                    <a:solidFill>
                      <a:srgbClr val="1E293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endParaRPr sz="2400" b="1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" name="Google Shape;240;p23"/>
              <p:cNvSpPr txBox="1"/>
              <p:nvPr/>
            </p:nvSpPr>
            <p:spPr>
              <a:xfrm>
                <a:off x="0" y="619125"/>
                <a:ext cx="5715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CBD5E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sz="120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1" name="Google Shape;241;p23"/>
            <p:cNvGrpSpPr/>
            <p:nvPr/>
          </p:nvGrpSpPr>
          <p:grpSpPr>
            <a:xfrm>
              <a:off x="7858125" y="2000250"/>
              <a:ext cx="571500" cy="857325"/>
              <a:chOff x="0" y="0"/>
              <a:chExt cx="571500" cy="857325"/>
            </a:xfrm>
          </p:grpSpPr>
          <p:sp>
            <p:nvSpPr>
              <p:cNvPr id="242" name="Google Shape;242;p23"/>
              <p:cNvSpPr/>
              <p:nvPr/>
            </p:nvSpPr>
            <p:spPr>
              <a:xfrm>
                <a:off x="0" y="0"/>
                <a:ext cx="5715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19050" cap="flat" cmpd="sng">
                <a:solidFill>
                  <a:srgbClr val="60A5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23"/>
              <p:cNvSpPr txBox="1"/>
              <p:nvPr/>
            </p:nvSpPr>
            <p:spPr>
              <a:xfrm>
                <a:off x="0" y="0"/>
                <a:ext cx="571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 b="1">
                    <a:solidFill>
                      <a:srgbClr val="1E293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 sz="2400" b="1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" name="Google Shape;244;p23"/>
              <p:cNvSpPr txBox="1"/>
              <p:nvPr/>
            </p:nvSpPr>
            <p:spPr>
              <a:xfrm>
                <a:off x="0" y="619125"/>
                <a:ext cx="5715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CBD5E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sz="120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5" name="Google Shape;245;p23"/>
            <p:cNvGrpSpPr/>
            <p:nvPr/>
          </p:nvGrpSpPr>
          <p:grpSpPr>
            <a:xfrm>
              <a:off x="8524875" y="2000250"/>
              <a:ext cx="571500" cy="857325"/>
              <a:chOff x="0" y="0"/>
              <a:chExt cx="571500" cy="857325"/>
            </a:xfrm>
          </p:grpSpPr>
          <p:sp>
            <p:nvSpPr>
              <p:cNvPr id="246" name="Google Shape;246;p23"/>
              <p:cNvSpPr/>
              <p:nvPr/>
            </p:nvSpPr>
            <p:spPr>
              <a:xfrm>
                <a:off x="0" y="0"/>
                <a:ext cx="5715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19050" cap="flat" cmpd="sng">
                <a:solidFill>
                  <a:srgbClr val="60A5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23"/>
              <p:cNvSpPr txBox="1"/>
              <p:nvPr/>
            </p:nvSpPr>
            <p:spPr>
              <a:xfrm>
                <a:off x="0" y="0"/>
                <a:ext cx="571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 b="1">
                    <a:solidFill>
                      <a:srgbClr val="1E293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endParaRPr sz="2400" b="1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" name="Google Shape;248;p23"/>
              <p:cNvSpPr txBox="1"/>
              <p:nvPr/>
            </p:nvSpPr>
            <p:spPr>
              <a:xfrm>
                <a:off x="0" y="619125"/>
                <a:ext cx="5715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CBD5E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 sz="120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9" name="Google Shape;249;p23"/>
            <p:cNvGrpSpPr/>
            <p:nvPr/>
          </p:nvGrpSpPr>
          <p:grpSpPr>
            <a:xfrm>
              <a:off x="9191625" y="2000250"/>
              <a:ext cx="571500" cy="857325"/>
              <a:chOff x="0" y="0"/>
              <a:chExt cx="571500" cy="857325"/>
            </a:xfrm>
          </p:grpSpPr>
          <p:sp>
            <p:nvSpPr>
              <p:cNvPr id="250" name="Google Shape;250;p23"/>
              <p:cNvSpPr/>
              <p:nvPr/>
            </p:nvSpPr>
            <p:spPr>
              <a:xfrm>
                <a:off x="0" y="0"/>
                <a:ext cx="5715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19050" cap="flat" cmpd="sng">
                <a:solidFill>
                  <a:srgbClr val="60A5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23"/>
              <p:cNvSpPr txBox="1"/>
              <p:nvPr/>
            </p:nvSpPr>
            <p:spPr>
              <a:xfrm>
                <a:off x="0" y="0"/>
                <a:ext cx="571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 b="1">
                    <a:solidFill>
                      <a:srgbClr val="1E293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</a:t>
                </a:r>
                <a:endParaRPr sz="2400" b="1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23"/>
              <p:cNvSpPr txBox="1"/>
              <p:nvPr/>
            </p:nvSpPr>
            <p:spPr>
              <a:xfrm>
                <a:off x="0" y="619125"/>
                <a:ext cx="5715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CBD5E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 sz="120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3" name="Google Shape;253;p23"/>
            <p:cNvGrpSpPr/>
            <p:nvPr/>
          </p:nvGrpSpPr>
          <p:grpSpPr>
            <a:xfrm>
              <a:off x="9858375" y="2000250"/>
              <a:ext cx="571500" cy="857325"/>
              <a:chOff x="0" y="0"/>
              <a:chExt cx="571500" cy="857325"/>
            </a:xfrm>
          </p:grpSpPr>
          <p:sp>
            <p:nvSpPr>
              <p:cNvPr id="254" name="Google Shape;254;p23"/>
              <p:cNvSpPr/>
              <p:nvPr/>
            </p:nvSpPr>
            <p:spPr>
              <a:xfrm>
                <a:off x="0" y="0"/>
                <a:ext cx="5715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19050" cap="flat" cmpd="sng">
                <a:solidFill>
                  <a:srgbClr val="60A5F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23"/>
              <p:cNvSpPr txBox="1"/>
              <p:nvPr/>
            </p:nvSpPr>
            <p:spPr>
              <a:xfrm>
                <a:off x="0" y="0"/>
                <a:ext cx="571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 b="1">
                    <a:solidFill>
                      <a:srgbClr val="1E293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</a:t>
                </a:r>
                <a:endParaRPr sz="2400" b="1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23"/>
              <p:cNvSpPr txBox="1"/>
              <p:nvPr/>
            </p:nvSpPr>
            <p:spPr>
              <a:xfrm>
                <a:off x="0" y="619125"/>
                <a:ext cx="5715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CBD5E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</a:t>
                </a:r>
                <a:endParaRPr sz="120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7" name="Google Shape;257;p23"/>
            <p:cNvSpPr/>
            <p:nvPr/>
          </p:nvSpPr>
          <p:spPr>
            <a:xfrm>
              <a:off x="6381750" y="3048000"/>
              <a:ext cx="5143500" cy="1714500"/>
            </a:xfrm>
            <a:prstGeom prst="roundRect">
              <a:avLst>
                <a:gd name="adj" fmla="val 5555"/>
              </a:avLst>
            </a:prstGeom>
            <a:solidFill>
              <a:srgbClr val="000000">
                <a:alpha val="6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3"/>
            <p:cNvSpPr txBox="1"/>
            <p:nvPr/>
          </p:nvSpPr>
          <p:spPr>
            <a:xfrm>
              <a:off x="6477000" y="3143250"/>
              <a:ext cx="4953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Exemplo em Python</a:t>
              </a:r>
              <a:endParaRPr sz="1400" b="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400" b="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texto = "Python"</a:t>
              </a:r>
              <a:endParaRPr sz="1400" b="0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400" b="0">
                  <a:solidFill>
                    <a:srgbClr val="F8717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print(texto[0]) # P</a:t>
              </a:r>
              <a:endParaRPr sz="1400" b="0">
                <a:solidFill>
                  <a:srgbClr val="F8717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400" b="0">
                  <a:solidFill>
                    <a:srgbClr val="F8717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print(texto[3]) # h</a:t>
              </a:r>
              <a:endParaRPr sz="1400" b="0">
                <a:solidFill>
                  <a:srgbClr val="F8717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100" b="0" i="1">
                  <a:solidFill>
                    <a:srgbClr val="94A3B8"/>
                  </a:solidFill>
                  <a:latin typeface="Calibri"/>
                  <a:ea typeface="Calibri"/>
                  <a:cs typeface="Calibri"/>
                  <a:sym typeface="Calibri"/>
                </a:rPr>
                <a:t>Acesso direto por índice começando em zero.</a:t>
              </a:r>
              <a:endParaRPr sz="1100" b="0" i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9" name="Google Shape;259;p23"/>
          <p:cNvSpPr txBox="1"/>
          <p:nvPr/>
        </p:nvSpPr>
        <p:spPr>
          <a:xfrm>
            <a:off x="10477500" y="6477000"/>
            <a:ext cx="13335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 / 26</a:t>
            </a:r>
            <a:endParaRPr sz="1200" b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5"/>
          <p:cNvPicPr preferRelativeResize="0"/>
          <p:nvPr/>
        </p:nvPicPr>
        <p:blipFill rotWithShape="1">
          <a:blip r:embed="rId3">
            <a:alphaModFix/>
          </a:blip>
          <a:srcRect l="1485" r="1475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5"/>
          <p:cNvSpPr txBox="1"/>
          <p:nvPr/>
        </p:nvSpPr>
        <p:spPr>
          <a:xfrm>
            <a:off x="457200" y="285750"/>
            <a:ext cx="110643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19050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Listas: definição e propriedades</a:t>
            </a:r>
            <a:endParaRPr sz="3200" b="1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476250" y="1238250"/>
            <a:ext cx="5334000" cy="4381500"/>
          </a:xfrm>
          <a:prstGeom prst="rect">
            <a:avLst/>
          </a:prstGeom>
          <a:solidFill>
            <a:srgbClr val="1E293B">
              <a:alpha val="85000"/>
            </a:srgbClr>
          </a:solidFill>
          <a:ln w="143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38125" tIns="238125" rIns="238125" bIns="238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Estrutura linear mutável</a:t>
            </a:r>
            <a:endParaRPr sz="2000" b="1" i="0">
              <a:solidFill>
                <a:srgbClr val="60A5F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300" b="0" i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Armazena múltiplos valores em ordem e permite alteração posterior.</a:t>
            </a:r>
            <a:endParaRPr sz="1300" b="0" i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000" b="1" i="0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Conteúdo homogêneo ou heterogêneo</a:t>
            </a:r>
            <a:endParaRPr sz="2000" b="1" i="0">
              <a:solidFill>
                <a:srgbClr val="34D3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300" b="0" i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Didaticamente, listas homogêneas tendem a ser mais claras em projetos iniciais.</a:t>
            </a:r>
            <a:endParaRPr sz="1300" b="0" i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000" b="1" i="0">
                <a:solidFill>
                  <a:srgbClr val="FACC15"/>
                </a:solidFill>
                <a:latin typeface="Calibri"/>
                <a:ea typeface="Calibri"/>
                <a:cs typeface="Calibri"/>
                <a:sym typeface="Calibri"/>
              </a:rPr>
              <a:t>Ações frequentes</a:t>
            </a:r>
            <a:endParaRPr sz="2000" b="1" i="0">
              <a:solidFill>
                <a:srgbClr val="FACC1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300" b="0" i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Adicionar, remover, localizar, ordenar e percorrer elementos.</a:t>
            </a:r>
            <a:endParaRPr sz="1300" b="0" i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000" b="1" i="0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Uso típico</a:t>
            </a:r>
            <a:endParaRPr sz="2000" b="1" i="0">
              <a:solidFill>
                <a:srgbClr val="F8717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300" b="0" i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Turmas, notas, tarefas, produtos e coleções temporárias de trabalho.</a:t>
            </a:r>
            <a:endParaRPr sz="1300" b="0" i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5"/>
          <p:cNvSpPr/>
          <p:nvPr/>
        </p:nvSpPr>
        <p:spPr>
          <a:xfrm>
            <a:off x="6191250" y="1238250"/>
            <a:ext cx="5524500" cy="4619700"/>
          </a:xfrm>
          <a:prstGeom prst="roundRect">
            <a:avLst>
              <a:gd name="adj" fmla="val 2474"/>
            </a:avLst>
          </a:prstGeom>
          <a:solidFill>
            <a:srgbClr val="1E293B">
              <a:alpha val="85000"/>
            </a:srgbClr>
          </a:solidFill>
          <a:ln w="143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Diagrama de sequência: lista</a:t>
            </a:r>
            <a:endParaRPr sz="1800" b="1" i="0">
              <a:solidFill>
                <a:srgbClr val="10B98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7" name="Google Shape;287;p25"/>
          <p:cNvGrpSpPr/>
          <p:nvPr/>
        </p:nvGrpSpPr>
        <p:grpSpPr>
          <a:xfrm>
            <a:off x="6334125" y="2000250"/>
            <a:ext cx="5238900" cy="2952750"/>
            <a:chOff x="6334125" y="2000250"/>
            <a:chExt cx="5238900" cy="2952750"/>
          </a:xfrm>
        </p:grpSpPr>
        <p:sp>
          <p:nvSpPr>
            <p:cNvPr id="288" name="Google Shape;288;p25"/>
            <p:cNvSpPr/>
            <p:nvPr/>
          </p:nvSpPr>
          <p:spPr>
            <a:xfrm>
              <a:off x="6477000" y="2000250"/>
              <a:ext cx="1095300" cy="666900"/>
            </a:xfrm>
            <a:prstGeom prst="roundRect">
              <a:avLst>
                <a:gd name="adj" fmla="val 11428"/>
              </a:avLst>
            </a:prstGeom>
            <a:solidFill>
              <a:srgbClr val="2563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5"/>
            <p:cNvSpPr txBox="1"/>
            <p:nvPr/>
          </p:nvSpPr>
          <p:spPr>
            <a:xfrm>
              <a:off x="6477000" y="2000250"/>
              <a:ext cx="10953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"Ana"</a:t>
              </a:r>
              <a:endParaRPr sz="1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90" name="Google Shape;290;p25"/>
            <p:cNvSpPr/>
            <p:nvPr/>
          </p:nvSpPr>
          <p:spPr>
            <a:xfrm>
              <a:off x="7715250" y="2000250"/>
              <a:ext cx="1095300" cy="666900"/>
            </a:xfrm>
            <a:prstGeom prst="roundRect">
              <a:avLst>
                <a:gd name="adj" fmla="val 11428"/>
              </a:avLst>
            </a:prstGeom>
            <a:solidFill>
              <a:srgbClr val="0EA5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5"/>
            <p:cNvSpPr txBox="1"/>
            <p:nvPr/>
          </p:nvSpPr>
          <p:spPr>
            <a:xfrm>
              <a:off x="7715250" y="2000250"/>
              <a:ext cx="10953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19</a:t>
              </a:r>
              <a:endParaRPr sz="1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92" name="Google Shape;292;p25"/>
            <p:cNvSpPr/>
            <p:nvPr/>
          </p:nvSpPr>
          <p:spPr>
            <a:xfrm>
              <a:off x="8953500" y="2000250"/>
              <a:ext cx="1095300" cy="666900"/>
            </a:xfrm>
            <a:prstGeom prst="roundRect">
              <a:avLst>
                <a:gd name="adj" fmla="val 11428"/>
              </a:avLst>
            </a:prstGeom>
            <a:solidFill>
              <a:srgbClr val="10B98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5"/>
            <p:cNvSpPr txBox="1"/>
            <p:nvPr/>
          </p:nvSpPr>
          <p:spPr>
            <a:xfrm>
              <a:off x="8953500" y="2000250"/>
              <a:ext cx="10953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True</a:t>
              </a:r>
              <a:endParaRPr sz="1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94" name="Google Shape;294;p25"/>
            <p:cNvSpPr/>
            <p:nvPr/>
          </p:nvSpPr>
          <p:spPr>
            <a:xfrm>
              <a:off x="10191750" y="2000250"/>
              <a:ext cx="1095300" cy="666900"/>
            </a:xfrm>
            <a:prstGeom prst="roundRect">
              <a:avLst>
                <a:gd name="adj" fmla="val 11428"/>
              </a:avLst>
            </a:prstGeom>
            <a:solidFill>
              <a:srgbClr val="FACC1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5"/>
            <p:cNvSpPr txBox="1"/>
            <p:nvPr/>
          </p:nvSpPr>
          <p:spPr>
            <a:xfrm>
              <a:off x="10191750" y="2000250"/>
              <a:ext cx="10953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1F29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[...]</a:t>
              </a:r>
              <a:endParaRPr sz="1400">
                <a:solidFill>
                  <a:srgbClr val="1F293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96" name="Google Shape;296;p25"/>
            <p:cNvSpPr txBox="1"/>
            <p:nvPr/>
          </p:nvSpPr>
          <p:spPr>
            <a:xfrm>
              <a:off x="6477000" y="2714625"/>
              <a:ext cx="1095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Índice 0</a:t>
              </a:r>
              <a:endParaRPr sz="11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25"/>
            <p:cNvSpPr txBox="1"/>
            <p:nvPr/>
          </p:nvSpPr>
          <p:spPr>
            <a:xfrm>
              <a:off x="7715250" y="2714625"/>
              <a:ext cx="1095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Índice 1</a:t>
              </a:r>
              <a:endParaRPr sz="11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25"/>
            <p:cNvSpPr txBox="1"/>
            <p:nvPr/>
          </p:nvSpPr>
          <p:spPr>
            <a:xfrm>
              <a:off x="8953500" y="2714625"/>
              <a:ext cx="1095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Índice 2</a:t>
              </a:r>
              <a:endParaRPr sz="11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25"/>
            <p:cNvSpPr txBox="1"/>
            <p:nvPr/>
          </p:nvSpPr>
          <p:spPr>
            <a:xfrm>
              <a:off x="10191750" y="2714625"/>
              <a:ext cx="1095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Índice 3</a:t>
              </a:r>
              <a:endParaRPr sz="11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25"/>
            <p:cNvSpPr/>
            <p:nvPr/>
          </p:nvSpPr>
          <p:spPr>
            <a:xfrm>
              <a:off x="6477000" y="3238500"/>
              <a:ext cx="4810200" cy="952500"/>
            </a:xfrm>
            <a:prstGeom prst="roundRect">
              <a:avLst>
                <a:gd name="adj" fmla="val 15000"/>
              </a:avLst>
            </a:prstGeom>
            <a:solidFill>
              <a:srgbClr val="0F172A">
                <a:alpha val="6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5"/>
            <p:cNvSpPr txBox="1"/>
            <p:nvPr/>
          </p:nvSpPr>
          <p:spPr>
            <a:xfrm>
              <a:off x="6619875" y="3238500"/>
              <a:ext cx="45243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Exemplo Heterogêneo</a:t>
              </a:r>
              <a:endParaRPr sz="1300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dados = ["Ana", 19, True, [7.5, 8.0, 9.2]]</a:t>
              </a:r>
              <a:endParaRPr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02" name="Google Shape;302;p25"/>
            <p:cNvSpPr txBox="1"/>
            <p:nvPr/>
          </p:nvSpPr>
          <p:spPr>
            <a:xfrm>
              <a:off x="6334125" y="4381500"/>
              <a:ext cx="5238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Sequências preservam ordem e permitem acesso por índice.</a:t>
              </a:r>
              <a:endParaRPr sz="12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3" name="Google Shape;303;p25"/>
          <p:cNvSpPr txBox="1"/>
          <p:nvPr/>
        </p:nvSpPr>
        <p:spPr>
          <a:xfrm>
            <a:off x="10477500" y="6477000"/>
            <a:ext cx="13335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9050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 / 26</a:t>
            </a:r>
            <a:endParaRPr sz="1200" b="0" i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86538" y="0"/>
            <a:ext cx="1256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7"/>
          <p:cNvSpPr txBox="1"/>
          <p:nvPr/>
        </p:nvSpPr>
        <p:spPr>
          <a:xfrm>
            <a:off x="457200" y="285750"/>
            <a:ext cx="110643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19050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String × Lista: comparação conceitual</a:t>
            </a:r>
            <a:endParaRPr sz="3200" b="1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7" name="Google Shape;317;p27"/>
          <p:cNvGrpSpPr/>
          <p:nvPr/>
        </p:nvGrpSpPr>
        <p:grpSpPr>
          <a:xfrm>
            <a:off x="6191250" y="1190683"/>
            <a:ext cx="5238900" cy="3103387"/>
            <a:chOff x="6191250" y="1190625"/>
            <a:chExt cx="5238900" cy="4476900"/>
          </a:xfrm>
        </p:grpSpPr>
        <p:sp>
          <p:nvSpPr>
            <p:cNvPr id="318" name="Google Shape;318;p27"/>
            <p:cNvSpPr/>
            <p:nvPr/>
          </p:nvSpPr>
          <p:spPr>
            <a:xfrm>
              <a:off x="6191250" y="1190625"/>
              <a:ext cx="5238900" cy="1047900"/>
            </a:xfrm>
            <a:prstGeom prst="roundRect">
              <a:avLst>
                <a:gd name="adj" fmla="val 10909"/>
              </a:avLst>
            </a:prstGeom>
            <a:solidFill>
              <a:srgbClr val="1E293B">
                <a:alpha val="85000"/>
              </a:srgbClr>
            </a:solidFill>
            <a:ln w="143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7"/>
            <p:cNvSpPr txBox="1"/>
            <p:nvPr/>
          </p:nvSpPr>
          <p:spPr>
            <a:xfrm>
              <a:off x="6334125" y="1190625"/>
              <a:ext cx="4953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60A5FA"/>
                  </a:solidFill>
                  <a:latin typeface="Calibri"/>
                  <a:ea typeface="Calibri"/>
                  <a:cs typeface="Calibri"/>
                  <a:sym typeface="Calibri"/>
                </a:rPr>
                <a:t>Semelhança estrutural</a:t>
              </a:r>
              <a:endParaRPr sz="1800" b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Ambas são sequências e aceitam índice, fatiamento e percurso.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27"/>
            <p:cNvSpPr/>
            <p:nvPr/>
          </p:nvSpPr>
          <p:spPr>
            <a:xfrm>
              <a:off x="6191250" y="2333625"/>
              <a:ext cx="5238900" cy="1047900"/>
            </a:xfrm>
            <a:prstGeom prst="roundRect">
              <a:avLst>
                <a:gd name="adj" fmla="val 10909"/>
              </a:avLst>
            </a:prstGeom>
            <a:solidFill>
              <a:srgbClr val="1E293B">
                <a:alpha val="85000"/>
              </a:srgbClr>
            </a:solidFill>
            <a:ln w="143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7"/>
            <p:cNvSpPr txBox="1"/>
            <p:nvPr/>
          </p:nvSpPr>
          <p:spPr>
            <a:xfrm>
              <a:off x="6334125" y="2333625"/>
              <a:ext cx="4953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34D399"/>
                  </a:solidFill>
                  <a:latin typeface="Calibri"/>
                  <a:ea typeface="Calibri"/>
                  <a:cs typeface="Calibri"/>
                  <a:sym typeface="Calibri"/>
                </a:rPr>
                <a:t>Diferença de propósito</a:t>
              </a:r>
              <a:endParaRPr sz="1800" b="1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String modela texto; lista modela conjunto ordenado de itens.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27"/>
            <p:cNvSpPr/>
            <p:nvPr/>
          </p:nvSpPr>
          <p:spPr>
            <a:xfrm>
              <a:off x="6191250" y="3476625"/>
              <a:ext cx="5238900" cy="1047900"/>
            </a:xfrm>
            <a:prstGeom prst="roundRect">
              <a:avLst>
                <a:gd name="adj" fmla="val 10909"/>
              </a:avLst>
            </a:prstGeom>
            <a:solidFill>
              <a:srgbClr val="1E293B">
                <a:alpha val="85000"/>
              </a:srgbClr>
            </a:solidFill>
            <a:ln w="143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7"/>
            <p:cNvSpPr txBox="1"/>
            <p:nvPr/>
          </p:nvSpPr>
          <p:spPr>
            <a:xfrm>
              <a:off x="6334125" y="3476625"/>
              <a:ext cx="4953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ACC15"/>
                  </a:solidFill>
                  <a:latin typeface="Calibri"/>
                  <a:ea typeface="Calibri"/>
                  <a:cs typeface="Calibri"/>
                  <a:sym typeface="Calibri"/>
                </a:rPr>
                <a:t>Mutabilidade</a:t>
              </a:r>
              <a:endParaRPr sz="1800" b="1">
                <a:solidFill>
                  <a:srgbClr val="FACC1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Lista é alterada diretamente; string costuma ser transformada em nova versão.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27"/>
            <p:cNvSpPr/>
            <p:nvPr/>
          </p:nvSpPr>
          <p:spPr>
            <a:xfrm>
              <a:off x="6191250" y="4619625"/>
              <a:ext cx="5238900" cy="1047900"/>
            </a:xfrm>
            <a:prstGeom prst="roundRect">
              <a:avLst>
                <a:gd name="adj" fmla="val 10909"/>
              </a:avLst>
            </a:prstGeom>
            <a:solidFill>
              <a:srgbClr val="1E293B">
                <a:alpha val="85000"/>
              </a:srgbClr>
            </a:solidFill>
            <a:ln w="143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7"/>
            <p:cNvSpPr txBox="1"/>
            <p:nvPr/>
          </p:nvSpPr>
          <p:spPr>
            <a:xfrm>
              <a:off x="6334125" y="4619625"/>
              <a:ext cx="4953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87171"/>
                  </a:solidFill>
                  <a:latin typeface="Calibri"/>
                  <a:ea typeface="Calibri"/>
                  <a:cs typeface="Calibri"/>
                  <a:sym typeface="Calibri"/>
                </a:rPr>
                <a:t>Critério de escolha</a:t>
              </a:r>
              <a:endParaRPr sz="1800" b="1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A semântica do problema deve guiar a modelagem.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6" name="Google Shape;326;p27"/>
          <p:cNvGrpSpPr/>
          <p:nvPr/>
        </p:nvGrpSpPr>
        <p:grpSpPr>
          <a:xfrm>
            <a:off x="471488" y="1185863"/>
            <a:ext cx="5248200" cy="4481663"/>
            <a:chOff x="471488" y="1185863"/>
            <a:chExt cx="5248200" cy="4481663"/>
          </a:xfrm>
        </p:grpSpPr>
        <p:pic>
          <p:nvPicPr>
            <p:cNvPr id="327" name="Google Shape;327;p27" descr="A high-tech 3D isometric infographic comparing a String and a List in Python. On the left, a solid glowing blue crystal block representing an immutable 'str' with characters inside. On the right, a flexible segmented container with modular elements that can be added or removed, representing a 'list'. Central icons for indexing and slicing connect both. Neon green and blue lighting on a dark technical background."/>
            <p:cNvPicPr preferRelativeResize="0"/>
            <p:nvPr/>
          </p:nvPicPr>
          <p:blipFill rotWithShape="1">
            <a:blip r:embed="rId4">
              <a:alphaModFix/>
            </a:blip>
            <a:srcRect l="6117" r="6117"/>
            <a:stretch/>
          </p:blipFill>
          <p:spPr>
            <a:xfrm>
              <a:off x="476250" y="1190625"/>
              <a:ext cx="5238900" cy="4476900"/>
            </a:xfrm>
            <a:prstGeom prst="roundRect">
              <a:avLst>
                <a:gd name="adj" fmla="val 4255"/>
              </a:avLst>
            </a:prstGeom>
            <a:noFill/>
            <a:ln>
              <a:noFill/>
            </a:ln>
          </p:spPr>
        </p:pic>
        <p:pic>
          <p:nvPicPr>
            <p:cNvPr id="328" name="Google Shape;328;p2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71488" y="1185863"/>
              <a:ext cx="5248200" cy="3957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9" name="Google Shape;329;p27"/>
          <p:cNvSpPr txBox="1"/>
          <p:nvPr/>
        </p:nvSpPr>
        <p:spPr>
          <a:xfrm>
            <a:off x="365760" y="6492240"/>
            <a:ext cx="114300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9050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8/26</a:t>
            </a:r>
            <a:endParaRPr sz="1000" b="0" i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0" name="Google Shape;330;p27"/>
          <p:cNvGraphicFramePr/>
          <p:nvPr/>
        </p:nvGraphicFramePr>
        <p:xfrm>
          <a:off x="6191260" y="4623003"/>
          <a:ext cx="5238900" cy="1540325"/>
        </p:xfrm>
        <a:graphic>
          <a:graphicData uri="http://schemas.openxmlformats.org/drawingml/2006/table">
            <a:tbl>
              <a:tblPr firstRow="1" bandRow="1">
                <a:noFill/>
                <a:tableStyleId>{ED642883-BA0C-44AA-9594-52904E38D95D}</a:tableStyleId>
              </a:tblPr>
              <a:tblGrid>
                <a:gridCol w="174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</a:rPr>
                        <a:t>Critério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</a:rPr>
                        <a:t>String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</a:rPr>
                        <a:t>Lista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1F2937"/>
                          </a:solidFill>
                        </a:rPr>
                        <a:t>Conteúdo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1F2937"/>
                          </a:solidFill>
                        </a:rPr>
                        <a:t>Texto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1F2937"/>
                          </a:solidFill>
                        </a:rPr>
                        <a:t>Objetos em sequência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1F2937"/>
                          </a:solidFill>
                        </a:rPr>
                        <a:t>Mutabilidade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1F2937"/>
                          </a:solidFill>
                        </a:rPr>
                        <a:t>Trabalha com nova string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1F2937"/>
                          </a:solidFill>
                        </a:rPr>
                        <a:t>Altera a própria coleção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1F2937"/>
                          </a:solidFill>
                        </a:rPr>
                        <a:t>Uso típico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1F2937"/>
                          </a:solidFill>
                        </a:rPr>
                        <a:t>Mensagens, nomes, códigos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1F2937"/>
                          </a:solidFill>
                        </a:rPr>
                        <a:t>Turmas, notas, tarefas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1F2937"/>
                          </a:solidFill>
                        </a:rPr>
                        <a:t>Operações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1F2937"/>
                          </a:solidFill>
                        </a:rPr>
                        <a:t>split, strip, replace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1F2937"/>
                          </a:solidFill>
                        </a:rPr>
                        <a:t>append, remove, sort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86538" y="0"/>
            <a:ext cx="1256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9"/>
          <p:cNvSpPr txBox="1"/>
          <p:nvPr/>
        </p:nvSpPr>
        <p:spPr>
          <a:xfrm>
            <a:off x="457200" y="285750"/>
            <a:ext cx="11064300" cy="5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Indexação: acesso posicional</a:t>
            </a:r>
            <a:endParaRPr sz="3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6" name="Google Shape;356;p29"/>
          <p:cNvGrpSpPr/>
          <p:nvPr/>
        </p:nvGrpSpPr>
        <p:grpSpPr>
          <a:xfrm>
            <a:off x="561975" y="1323975"/>
            <a:ext cx="5353200" cy="4010025"/>
            <a:chOff x="561975" y="1323975"/>
            <a:chExt cx="5353200" cy="4010025"/>
          </a:xfrm>
        </p:grpSpPr>
        <p:pic>
          <p:nvPicPr>
            <p:cNvPr id="357" name="Google Shape;357;p29" descr="A high-tech, 3D isometric infographic showing a horizontal sequence of glowing boxes, each with an index number below starting from 0. One box is highlighted with a neon light to represent 'positional access'. Modern software engineering aesthetic with blue and emerald tones.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71500" y="1333500"/>
              <a:ext cx="5334000" cy="4000500"/>
            </a:xfrm>
            <a:prstGeom prst="roundRect">
              <a:avLst>
                <a:gd name="adj" fmla="val 4761"/>
              </a:avLst>
            </a:prstGeom>
            <a:noFill/>
            <a:ln>
              <a:noFill/>
            </a:ln>
          </p:spPr>
        </p:pic>
        <p:pic>
          <p:nvPicPr>
            <p:cNvPr id="358" name="Google Shape;358;p2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61975" y="1323975"/>
              <a:ext cx="5353200" cy="3819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9" name="Google Shape;359;p29"/>
          <p:cNvSpPr txBox="1"/>
          <p:nvPr/>
        </p:nvSpPr>
        <p:spPr>
          <a:xfrm>
            <a:off x="6286500" y="1333500"/>
            <a:ext cx="5334000" cy="4000500"/>
          </a:xfrm>
          <a:prstGeom prst="rect">
            <a:avLst/>
          </a:prstGeom>
          <a:solidFill>
            <a:srgbClr val="1E293B">
              <a:alpha val="80000"/>
            </a:srgbClr>
          </a:solidFill>
          <a:ln w="143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85750" tIns="285750" rIns="285750" bIns="2857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Índices começam em zero</a:t>
            </a:r>
            <a:endParaRPr sz="1800" b="1">
              <a:solidFill>
                <a:srgbClr val="60A5F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O primeiro elemento é sempre acessado pela posição 0.</a:t>
            </a:r>
            <a:endParaRPr sz="1300" b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Leitura pontual</a:t>
            </a:r>
            <a:endParaRPr sz="1800" b="1">
              <a:solidFill>
                <a:srgbClr val="34D3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 indexação resolve perguntas como “qual é o 3º caractere?” ou “qual é a 2ª nota?”.</a:t>
            </a:r>
            <a:endParaRPr sz="1300" b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ACC15"/>
                </a:solidFill>
                <a:latin typeface="Calibri"/>
                <a:ea typeface="Calibri"/>
                <a:cs typeface="Calibri"/>
                <a:sym typeface="Calibri"/>
              </a:rPr>
              <a:t>Dependência do limite</a:t>
            </a:r>
            <a:endParaRPr sz="1800" b="1">
              <a:solidFill>
                <a:srgbClr val="FACC1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Acesso fora do intervalo gera erro e deve ser prevenido.</a:t>
            </a:r>
            <a:endParaRPr sz="1300" b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Aplicação didática</a:t>
            </a:r>
            <a:endParaRPr sz="1800" b="1">
              <a:solidFill>
                <a:srgbClr val="F8717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Ajuda o estudante a diferenciar posição, valor e estrutura.</a:t>
            </a:r>
            <a:endParaRPr sz="1300" b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9"/>
          <p:cNvSpPr txBox="1"/>
          <p:nvPr/>
        </p:nvSpPr>
        <p:spPr>
          <a:xfrm>
            <a:off x="10477500" y="6477000"/>
            <a:ext cx="13335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9050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 / 26</a:t>
            </a:r>
            <a:endParaRPr sz="1200" b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Google Shape;388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86538" y="0"/>
            <a:ext cx="1256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31"/>
          <p:cNvSpPr txBox="1"/>
          <p:nvPr/>
        </p:nvSpPr>
        <p:spPr>
          <a:xfrm>
            <a:off x="457200" y="285750"/>
            <a:ext cx="11277600" cy="492600"/>
          </a:xfrm>
          <a:prstGeom prst="rect">
            <a:avLst/>
          </a:prstGeom>
          <a:solidFill>
            <a:srgbClr val="1E293B">
              <a:alpha val="85000"/>
            </a:srgb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50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Fatiamento: recortes de uma sequência</a:t>
            </a:r>
            <a:endParaRPr sz="32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0" name="Google Shape;390;p31"/>
          <p:cNvGrpSpPr/>
          <p:nvPr/>
        </p:nvGrpSpPr>
        <p:grpSpPr>
          <a:xfrm>
            <a:off x="561975" y="1228725"/>
            <a:ext cx="5353200" cy="4391025"/>
            <a:chOff x="561975" y="1228725"/>
            <a:chExt cx="5353200" cy="4391025"/>
          </a:xfrm>
        </p:grpSpPr>
        <p:pic>
          <p:nvPicPr>
            <p:cNvPr id="391" name="Google Shape;391;p31" descr="A clean, modern 3D isometric infographic showing a strip of 3D characters representing a string 'A L G O R I T M O'. A glowing blue highlight 'slice' is being pulled out of the middle, with technical labels indicating start and end indices. Soft neon lighting on a dark background."/>
            <p:cNvPicPr preferRelativeResize="0"/>
            <p:nvPr/>
          </p:nvPicPr>
          <p:blipFill rotWithShape="1">
            <a:blip r:embed="rId4">
              <a:alphaModFix/>
            </a:blip>
            <a:srcRect l="4346" r="4346"/>
            <a:stretch/>
          </p:blipFill>
          <p:spPr>
            <a:xfrm>
              <a:off x="571500" y="1238250"/>
              <a:ext cx="5334000" cy="4381500"/>
            </a:xfrm>
            <a:prstGeom prst="roundRect">
              <a:avLst>
                <a:gd name="adj" fmla="val 3260"/>
              </a:avLst>
            </a:prstGeom>
            <a:noFill/>
            <a:ln>
              <a:noFill/>
            </a:ln>
          </p:spPr>
        </p:pic>
        <p:pic>
          <p:nvPicPr>
            <p:cNvPr id="392" name="Google Shape;392;p3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61975" y="1228725"/>
              <a:ext cx="5353200" cy="3914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3" name="Google Shape;393;p31"/>
          <p:cNvGrpSpPr/>
          <p:nvPr/>
        </p:nvGrpSpPr>
        <p:grpSpPr>
          <a:xfrm>
            <a:off x="6191250" y="1238250"/>
            <a:ext cx="5524500" cy="4381350"/>
            <a:chOff x="6191250" y="1238250"/>
            <a:chExt cx="5524500" cy="4381350"/>
          </a:xfrm>
        </p:grpSpPr>
        <p:sp>
          <p:nvSpPr>
            <p:cNvPr id="394" name="Google Shape;394;p31"/>
            <p:cNvSpPr/>
            <p:nvPr/>
          </p:nvSpPr>
          <p:spPr>
            <a:xfrm>
              <a:off x="6191250" y="1238250"/>
              <a:ext cx="5524500" cy="1047900"/>
            </a:xfrm>
            <a:prstGeom prst="roundRect">
              <a:avLst>
                <a:gd name="adj" fmla="val 10909"/>
              </a:avLst>
            </a:prstGeom>
            <a:solidFill>
              <a:srgbClr val="1E293B">
                <a:alpha val="85000"/>
              </a:srgbClr>
            </a:solidFill>
            <a:ln w="143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1"/>
            <p:cNvSpPr txBox="1"/>
            <p:nvPr/>
          </p:nvSpPr>
          <p:spPr>
            <a:xfrm>
              <a:off x="6334125" y="1238250"/>
              <a:ext cx="5238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60A5FA"/>
                  </a:solidFill>
                  <a:latin typeface="Calibri"/>
                  <a:ea typeface="Calibri"/>
                  <a:cs typeface="Calibri"/>
                  <a:sym typeface="Calibri"/>
                </a:rPr>
                <a:t>Subconjunto sem laço extra</a:t>
              </a:r>
              <a:endParaRPr sz="1800" b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A notação inicio:fim extrai uma parte contínua da sequência sem precisar percorrer manualmente.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31"/>
            <p:cNvSpPr/>
            <p:nvPr/>
          </p:nvSpPr>
          <p:spPr>
            <a:xfrm>
              <a:off x="6191250" y="2428875"/>
              <a:ext cx="5524500" cy="1047900"/>
            </a:xfrm>
            <a:prstGeom prst="roundRect">
              <a:avLst>
                <a:gd name="adj" fmla="val 10909"/>
              </a:avLst>
            </a:prstGeom>
            <a:solidFill>
              <a:srgbClr val="1E293B">
                <a:alpha val="85000"/>
              </a:srgbClr>
            </a:solidFill>
            <a:ln w="143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31"/>
            <p:cNvSpPr txBox="1"/>
            <p:nvPr/>
          </p:nvSpPr>
          <p:spPr>
            <a:xfrm>
              <a:off x="6334125" y="2428875"/>
              <a:ext cx="5238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34D399"/>
                  </a:solidFill>
                  <a:latin typeface="Calibri"/>
                  <a:ea typeface="Calibri"/>
                  <a:cs typeface="Calibri"/>
                  <a:sym typeface="Calibri"/>
                </a:rPr>
                <a:t>Economia de código</a:t>
              </a:r>
              <a:endParaRPr sz="1800" b="1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Muitas tarefas simples dispensam laços complexos quando o fatiamento é bem utilizado.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31"/>
            <p:cNvSpPr/>
            <p:nvPr/>
          </p:nvSpPr>
          <p:spPr>
            <a:xfrm>
              <a:off x="6191250" y="3619500"/>
              <a:ext cx="5524500" cy="2000100"/>
            </a:xfrm>
            <a:prstGeom prst="roundRect">
              <a:avLst>
                <a:gd name="adj" fmla="val 5714"/>
              </a:avLst>
            </a:prstGeom>
            <a:solidFill>
              <a:srgbClr val="111827">
                <a:alpha val="95000"/>
              </a:srgbClr>
            </a:solidFill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31"/>
            <p:cNvSpPr txBox="1"/>
            <p:nvPr/>
          </p:nvSpPr>
          <p:spPr>
            <a:xfrm>
              <a:off x="6381750" y="3619500"/>
              <a:ext cx="51435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Exemplo prático em Python</a:t>
              </a:r>
              <a:endParaRPr sz="1300" b="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FACC1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palavra = "algoritmo"</a:t>
              </a:r>
              <a:endParaRPr sz="1300" b="0">
                <a:solidFill>
                  <a:srgbClr val="FACC1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print(palavra[1:4]) </a:t>
              </a:r>
              <a:r>
                <a:rPr lang="en-US" sz="1300" b="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"lgo"</a:t>
              </a:r>
              <a:endParaRPr sz="1300" b="0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print(palavra[:5]) </a:t>
              </a:r>
              <a:r>
                <a:rPr lang="en-US" sz="1300" b="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"algor"</a:t>
              </a:r>
              <a:endParaRPr sz="1300" b="0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print(palavra[5:]) </a:t>
              </a:r>
              <a:r>
                <a:rPr lang="en-US" sz="1300" b="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"itmo"</a:t>
              </a:r>
              <a:endParaRPr sz="1300" b="0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300" b="0" i="1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Leitura: isolar um subproblema dentro do conjunto original.</a:t>
              </a:r>
              <a:endParaRPr sz="1300" b="0" i="1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0" name="Google Shape;400;p31"/>
          <p:cNvSpPr txBox="1"/>
          <p:nvPr/>
        </p:nvSpPr>
        <p:spPr>
          <a:xfrm>
            <a:off x="10477500" y="6477000"/>
            <a:ext cx="13335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9050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 / 26</a:t>
            </a:r>
            <a:endParaRPr sz="1200" b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33" descr="A high-quality, professional dark mode background of a Visual Studio Code (VS Code) interface with clean Python code. The image has a heavy dark blue and navy overlay to create a subtle technical texture that maintains high contrast for foreground tex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5" name="Google Shape;415;p33"/>
          <p:cNvGrpSpPr/>
          <p:nvPr/>
        </p:nvGrpSpPr>
        <p:grpSpPr>
          <a:xfrm>
            <a:off x="457200" y="285750"/>
            <a:ext cx="11277600" cy="666900"/>
            <a:chOff x="457200" y="285750"/>
            <a:chExt cx="11277600" cy="666900"/>
          </a:xfrm>
        </p:grpSpPr>
        <p:sp>
          <p:nvSpPr>
            <p:cNvPr id="416" name="Google Shape;416;p33"/>
            <p:cNvSpPr/>
            <p:nvPr/>
          </p:nvSpPr>
          <p:spPr>
            <a:xfrm>
              <a:off x="457200" y="285750"/>
              <a:ext cx="11277600" cy="666900"/>
            </a:xfrm>
            <a:prstGeom prst="roundRect">
              <a:avLst>
                <a:gd name="adj" fmla="val 14285"/>
              </a:avLst>
            </a:prstGeom>
            <a:solidFill>
              <a:srgbClr val="1E293B">
                <a:alpha val="85000"/>
              </a:srgbClr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3"/>
            <p:cNvSpPr txBox="1"/>
            <p:nvPr/>
          </p:nvSpPr>
          <p:spPr>
            <a:xfrm>
              <a:off x="457200" y="285750"/>
              <a:ext cx="112776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Manipulação de strings</a:t>
              </a:r>
              <a:endParaRPr sz="3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8" name="Google Shape;418;p33"/>
          <p:cNvGrpSpPr/>
          <p:nvPr/>
        </p:nvGrpSpPr>
        <p:grpSpPr>
          <a:xfrm>
            <a:off x="571500" y="1333500"/>
            <a:ext cx="5334000" cy="4000500"/>
            <a:chOff x="571500" y="1333500"/>
            <a:chExt cx="5334000" cy="4000500"/>
          </a:xfrm>
        </p:grpSpPr>
        <p:sp>
          <p:nvSpPr>
            <p:cNvPr id="419" name="Google Shape;419;p33"/>
            <p:cNvSpPr/>
            <p:nvPr/>
          </p:nvSpPr>
          <p:spPr>
            <a:xfrm>
              <a:off x="571500" y="1333500"/>
              <a:ext cx="5334000" cy="4000500"/>
            </a:xfrm>
            <a:prstGeom prst="roundRect">
              <a:avLst>
                <a:gd name="adj" fmla="val 3571"/>
              </a:avLst>
            </a:prstGeom>
            <a:solidFill>
              <a:srgbClr val="1E293B">
                <a:alpha val="80000"/>
              </a:srgbClr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3"/>
            <p:cNvSpPr txBox="1"/>
            <p:nvPr/>
          </p:nvSpPr>
          <p:spPr>
            <a:xfrm>
              <a:off x="762000" y="1524000"/>
              <a:ext cx="49530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60A5FA"/>
                  </a:solidFill>
                  <a:latin typeface="Calibri"/>
                  <a:ea typeface="Calibri"/>
                  <a:cs typeface="Calibri"/>
                  <a:sym typeface="Calibri"/>
                </a:rPr>
                <a:t>Limpeza</a:t>
              </a:r>
              <a:endParaRPr sz="1800" b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strip() remove espaços indesejados.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34D399"/>
                  </a:solidFill>
                  <a:latin typeface="Calibri"/>
                  <a:ea typeface="Calibri"/>
                  <a:cs typeface="Calibri"/>
                  <a:sym typeface="Calibri"/>
                </a:rPr>
                <a:t>Padronização</a:t>
              </a:r>
              <a:endParaRPr sz="1800" b="1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lower(), upper() e title() uniformizam entradas.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ACC15"/>
                  </a:solidFill>
                  <a:latin typeface="Calibri"/>
                  <a:ea typeface="Calibri"/>
                  <a:cs typeface="Calibri"/>
                  <a:sym typeface="Calibri"/>
                </a:rPr>
                <a:t>Substituição e separação</a:t>
              </a:r>
              <a:endParaRPr sz="1800" b="1">
                <a:solidFill>
                  <a:srgbClr val="FACC1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replace(), split() e join() transformam a estrutura.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87171"/>
                  </a:solidFill>
                  <a:latin typeface="Calibri"/>
                  <a:ea typeface="Calibri"/>
                  <a:cs typeface="Calibri"/>
                  <a:sym typeface="Calibri"/>
                </a:rPr>
                <a:t>Valor pedagógico</a:t>
              </a:r>
              <a:endParaRPr sz="1800" b="1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Texto é dado tratável, não apenas visual.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1" name="Google Shape;421;p33"/>
          <p:cNvGrpSpPr/>
          <p:nvPr/>
        </p:nvGrpSpPr>
        <p:grpSpPr>
          <a:xfrm>
            <a:off x="6191250" y="1333500"/>
            <a:ext cx="5524500" cy="4000500"/>
            <a:chOff x="6191250" y="1333500"/>
            <a:chExt cx="5524500" cy="4000500"/>
          </a:xfrm>
        </p:grpSpPr>
        <p:sp>
          <p:nvSpPr>
            <p:cNvPr id="422" name="Google Shape;422;p33"/>
            <p:cNvSpPr/>
            <p:nvPr/>
          </p:nvSpPr>
          <p:spPr>
            <a:xfrm>
              <a:off x="6191250" y="1333500"/>
              <a:ext cx="5524500" cy="4000500"/>
            </a:xfrm>
            <a:prstGeom prst="roundRect">
              <a:avLst>
                <a:gd name="adj" fmla="val 3571"/>
              </a:avLst>
            </a:prstGeom>
            <a:solidFill>
              <a:srgbClr val="0F172A">
                <a:alpha val="90000"/>
              </a:srgbClr>
            </a:solidFill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3" name="Google Shape;423;p33"/>
            <p:cNvGrpSpPr/>
            <p:nvPr/>
          </p:nvGrpSpPr>
          <p:grpSpPr>
            <a:xfrm>
              <a:off x="6400800" y="1508760"/>
              <a:ext cx="2011800" cy="320100"/>
              <a:chOff x="6400800" y="1508760"/>
              <a:chExt cx="2011800" cy="320100"/>
            </a:xfrm>
          </p:grpSpPr>
          <p:sp>
            <p:nvSpPr>
              <p:cNvPr id="424" name="Google Shape;424;p33"/>
              <p:cNvSpPr/>
              <p:nvPr/>
            </p:nvSpPr>
            <p:spPr>
              <a:xfrm>
                <a:off x="6400800" y="1508760"/>
                <a:ext cx="2011800" cy="320100"/>
              </a:xfrm>
              <a:prstGeom prst="roundRect">
                <a:avLst>
                  <a:gd name="adj" fmla="val 16666"/>
                </a:avLst>
              </a:prstGeom>
              <a:solidFill>
                <a:srgbClr val="2563EB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33"/>
              <p:cNvSpPr txBox="1"/>
              <p:nvPr/>
            </p:nvSpPr>
            <p:spPr>
              <a:xfrm>
                <a:off x="6400800" y="1508760"/>
                <a:ext cx="2011800" cy="32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Exemplo em Python</a:t>
                </a:r>
                <a:endParaRPr sz="12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26" name="Google Shape;426;p33"/>
            <p:cNvSpPr txBox="1"/>
            <p:nvPr/>
          </p:nvSpPr>
          <p:spPr>
            <a:xfrm>
              <a:off x="6381750" y="2000250"/>
              <a:ext cx="51435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190500" rIns="190500" bIns="1905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String original com espaços</a:t>
              </a:r>
              <a:endParaRPr sz="1400" b="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>
                  <a:solidFill>
                    <a:srgbClr val="FACC1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texto = " Programação em Python "</a:t>
              </a:r>
              <a:endParaRPr sz="1400" b="0">
                <a:solidFill>
                  <a:srgbClr val="FACC1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400" b="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print(texto.strip())</a:t>
              </a:r>
              <a:endParaRPr sz="1400" b="0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print(texto.upper())</a:t>
              </a:r>
              <a:endParaRPr sz="1400" b="0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print(texto.replace("Python", "Lógica"))</a:t>
              </a:r>
              <a:endParaRPr sz="1400" b="0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100" b="0" i="1">
                  <a:solidFill>
                    <a:srgbClr val="94A3B8"/>
                  </a:solidFill>
                  <a:latin typeface="Calibri"/>
                  <a:ea typeface="Calibri"/>
                  <a:cs typeface="Calibri"/>
                  <a:sym typeface="Calibri"/>
                </a:rPr>
                <a:t>Observe como os métodos alteram a saída no terminal.</a:t>
              </a:r>
              <a:endParaRPr sz="1100" b="0" i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7" name="Google Shape;427;p33"/>
          <p:cNvSpPr txBox="1"/>
          <p:nvPr/>
        </p:nvSpPr>
        <p:spPr>
          <a:xfrm>
            <a:off x="365760" y="6492240"/>
            <a:ext cx="114300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9050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11/26</a:t>
            </a:r>
            <a:endParaRPr sz="1000" b="0" i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Google Shape;441;p35"/>
          <p:cNvPicPr preferRelativeResize="0"/>
          <p:nvPr/>
        </p:nvPicPr>
        <p:blipFill rotWithShape="1">
          <a:blip r:embed="rId3">
            <a:alphaModFix/>
          </a:blip>
          <a:srcRect l="1485" r="1475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2" name="Google Shape;442;p35"/>
          <p:cNvGrpSpPr/>
          <p:nvPr/>
        </p:nvGrpSpPr>
        <p:grpSpPr>
          <a:xfrm>
            <a:off x="457200" y="285750"/>
            <a:ext cx="11277600" cy="714300"/>
            <a:chOff x="457200" y="285750"/>
            <a:chExt cx="11277600" cy="714300"/>
          </a:xfrm>
        </p:grpSpPr>
        <p:sp>
          <p:nvSpPr>
            <p:cNvPr id="443" name="Google Shape;443;p35"/>
            <p:cNvSpPr/>
            <p:nvPr/>
          </p:nvSpPr>
          <p:spPr>
            <a:xfrm>
              <a:off x="457200" y="285750"/>
              <a:ext cx="11277600" cy="714300"/>
            </a:xfrm>
            <a:prstGeom prst="roundRect">
              <a:avLst>
                <a:gd name="adj" fmla="val 13333"/>
              </a:avLst>
            </a:prstGeom>
            <a:solidFill>
              <a:srgbClr val="1E293B">
                <a:alpha val="85000"/>
              </a:srgbClr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5"/>
            <p:cNvSpPr txBox="1"/>
            <p:nvPr/>
          </p:nvSpPr>
          <p:spPr>
            <a:xfrm>
              <a:off x="457200" y="285750"/>
              <a:ext cx="112776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Principais métodos de listas</a:t>
              </a:r>
              <a:endParaRPr sz="3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5" name="Google Shape;445;p35"/>
          <p:cNvGrpSpPr/>
          <p:nvPr/>
        </p:nvGrpSpPr>
        <p:grpSpPr>
          <a:xfrm>
            <a:off x="566738" y="1328738"/>
            <a:ext cx="5343600" cy="4005263"/>
            <a:chOff x="566738" y="1328738"/>
            <a:chExt cx="5343600" cy="4005263"/>
          </a:xfrm>
        </p:grpSpPr>
        <p:pic>
          <p:nvPicPr>
            <p:cNvPr id="446" name="Google Shape;446;p35" descr="A clean, modern 3D isometric infographic representing data organization. It shows a series of floating blue blocks being added to a list, some blocks being searched with a magnifying glass, and others being reordered. The style is technical and sleek, using neon blue and soft white highlights on a dark, professional background.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71500" y="1333500"/>
              <a:ext cx="5334000" cy="4000500"/>
            </a:xfrm>
            <a:prstGeom prst="roundRect">
              <a:avLst>
                <a:gd name="adj" fmla="val 4761"/>
              </a:avLst>
            </a:prstGeom>
            <a:noFill/>
            <a:ln>
              <a:noFill/>
            </a:ln>
          </p:spPr>
        </p:pic>
        <p:pic>
          <p:nvPicPr>
            <p:cNvPr id="447" name="Google Shape;447;p3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66738" y="1328738"/>
              <a:ext cx="5343600" cy="3814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8" name="Google Shape;448;p35"/>
          <p:cNvGrpSpPr/>
          <p:nvPr/>
        </p:nvGrpSpPr>
        <p:grpSpPr>
          <a:xfrm>
            <a:off x="6191250" y="1333500"/>
            <a:ext cx="5524500" cy="2190900"/>
            <a:chOff x="6191250" y="1333500"/>
            <a:chExt cx="5524500" cy="2190900"/>
          </a:xfrm>
        </p:grpSpPr>
        <p:sp>
          <p:nvSpPr>
            <p:cNvPr id="449" name="Google Shape;449;p35"/>
            <p:cNvSpPr/>
            <p:nvPr/>
          </p:nvSpPr>
          <p:spPr>
            <a:xfrm>
              <a:off x="6191250" y="1333500"/>
              <a:ext cx="5524500" cy="2190900"/>
            </a:xfrm>
            <a:prstGeom prst="roundRect">
              <a:avLst>
                <a:gd name="adj" fmla="val 6521"/>
              </a:avLst>
            </a:prstGeom>
            <a:solidFill>
              <a:srgbClr val="1E293B">
                <a:alpha val="85000"/>
              </a:srgbClr>
            </a:solidFill>
            <a:ln w="143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450" name="Google Shape;450;p35"/>
            <p:cNvSpPr txBox="1"/>
            <p:nvPr/>
          </p:nvSpPr>
          <p:spPr>
            <a:xfrm>
              <a:off x="6334125" y="1476375"/>
              <a:ext cx="52389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60A5FA"/>
                  </a:solidFill>
                  <a:latin typeface="Calibri"/>
                  <a:ea typeface="Calibri"/>
                  <a:cs typeface="Calibri"/>
                  <a:sym typeface="Calibri"/>
                </a:rPr>
                <a:t>Construção incremental</a:t>
              </a:r>
              <a:endParaRPr sz="1600" b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1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append() acrescenta itens ao final da coleção.</a:t>
              </a:r>
              <a:endParaRPr sz="111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34D399"/>
                  </a:solidFill>
                  <a:latin typeface="Calibri"/>
                  <a:ea typeface="Calibri"/>
                  <a:cs typeface="Calibri"/>
                  <a:sym typeface="Calibri"/>
                </a:rPr>
                <a:t>Busca e contagem</a:t>
              </a:r>
              <a:endParaRPr sz="1600" b="1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1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index() localiza a primeira ocorrência; count() mede repetição.</a:t>
              </a:r>
              <a:endParaRPr sz="111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FACC15"/>
                  </a:solidFill>
                  <a:latin typeface="Calibri"/>
                  <a:ea typeface="Calibri"/>
                  <a:cs typeface="Calibri"/>
                  <a:sym typeface="Calibri"/>
                </a:rPr>
                <a:t>Reorganização</a:t>
              </a:r>
              <a:endParaRPr sz="1600" b="1">
                <a:solidFill>
                  <a:srgbClr val="FACC1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1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sort() e reverse() alteram a ordem da lista.</a:t>
              </a:r>
              <a:endParaRPr sz="111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F87171"/>
                  </a:solidFill>
                  <a:latin typeface="Calibri"/>
                  <a:ea typeface="Calibri"/>
                  <a:cs typeface="Calibri"/>
                  <a:sym typeface="Calibri"/>
                </a:rPr>
                <a:t>Cuidados</a:t>
              </a:r>
              <a:endParaRPr sz="1600" b="1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1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Métodos mutáveis geralmente retornam None e modificam a própria lista.</a:t>
              </a:r>
              <a:endParaRPr sz="111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1" name="Google Shape;451;p35"/>
          <p:cNvGrpSpPr/>
          <p:nvPr/>
        </p:nvGrpSpPr>
        <p:grpSpPr>
          <a:xfrm>
            <a:off x="6191250" y="3667125"/>
            <a:ext cx="5524500" cy="1666800"/>
            <a:chOff x="6191250" y="3667125"/>
            <a:chExt cx="5524500" cy="1666800"/>
          </a:xfrm>
        </p:grpSpPr>
        <p:sp>
          <p:nvSpPr>
            <p:cNvPr id="452" name="Google Shape;452;p35"/>
            <p:cNvSpPr/>
            <p:nvPr/>
          </p:nvSpPr>
          <p:spPr>
            <a:xfrm>
              <a:off x="6191250" y="3667125"/>
              <a:ext cx="5524500" cy="1666800"/>
            </a:xfrm>
            <a:prstGeom prst="roundRect">
              <a:avLst>
                <a:gd name="adj" fmla="val 8571"/>
              </a:avLst>
            </a:prstGeom>
            <a:solidFill>
              <a:srgbClr val="0F172A">
                <a:alpha val="90000"/>
              </a:srgbClr>
            </a:solidFill>
            <a:ln w="143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5"/>
            <p:cNvSpPr txBox="1"/>
            <p:nvPr/>
          </p:nvSpPr>
          <p:spPr>
            <a:xfrm>
              <a:off x="6334125" y="3810000"/>
              <a:ext cx="523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60A5FA"/>
                  </a:solidFill>
                  <a:latin typeface="Calibri"/>
                  <a:ea typeface="Calibri"/>
                  <a:cs typeface="Calibri"/>
                  <a:sym typeface="Calibri"/>
                </a:rPr>
                <a:t>Exemplo em Python</a:t>
              </a:r>
              <a:endParaRPr sz="1400" b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Google Shape;454;p35"/>
            <p:cNvSpPr txBox="1"/>
            <p:nvPr/>
          </p:nvSpPr>
          <p:spPr>
            <a:xfrm>
              <a:off x="6429375" y="4143375"/>
              <a:ext cx="5048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frutas = ["maçã", "banana", "uva", "banana"]</a:t>
              </a:r>
              <a:endParaRPr sz="1200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frutas.append("pera")</a:t>
              </a:r>
              <a:endParaRPr sz="1200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print(frutas.index("banana"))</a:t>
              </a:r>
              <a:endParaRPr sz="1200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print(frutas.count("banana"))</a:t>
              </a:r>
              <a:endParaRPr sz="1200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455" name="Google Shape;455;p35"/>
          <p:cNvSpPr txBox="1"/>
          <p:nvPr/>
        </p:nvSpPr>
        <p:spPr>
          <a:xfrm>
            <a:off x="10477500" y="6477000"/>
            <a:ext cx="13335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 / 26</a:t>
            </a:r>
            <a:endParaRPr sz="1200" b="0" i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9" name="Google Shape;469;p37"/>
          <p:cNvPicPr preferRelativeResize="0"/>
          <p:nvPr/>
        </p:nvPicPr>
        <p:blipFill rotWithShape="1">
          <a:blip r:embed="rId3">
            <a:alphaModFix/>
          </a:blip>
          <a:srcRect l="1485" r="1475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37"/>
          <p:cNvSpPr txBox="1"/>
          <p:nvPr/>
        </p:nvSpPr>
        <p:spPr>
          <a:xfrm>
            <a:off x="457200" y="320040"/>
            <a:ext cx="11064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Iteração com for</a:t>
            </a:r>
            <a:endParaRPr/>
          </a:p>
        </p:txBody>
      </p:sp>
      <p:grpSp>
        <p:nvGrpSpPr>
          <p:cNvPr id="471" name="Google Shape;471;p37"/>
          <p:cNvGrpSpPr/>
          <p:nvPr/>
        </p:nvGrpSpPr>
        <p:grpSpPr>
          <a:xfrm>
            <a:off x="571500" y="1333500"/>
            <a:ext cx="5334000" cy="4000500"/>
            <a:chOff x="571500" y="1333500"/>
            <a:chExt cx="5334000" cy="4000500"/>
          </a:xfrm>
        </p:grpSpPr>
        <p:pic>
          <p:nvPicPr>
            <p:cNvPr id="472" name="Google Shape;472;p37" descr="A sleek, modern 3D infographic showing a circular flow of data. Several glowing icons of 'elements' are moving along a path in a loop, representing a Python 'for' loop traversing a list. The style uses neon blue and soft white glows on a dark background, consistent with a software development theme.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71500" y="1333500"/>
              <a:ext cx="5334000" cy="4000500"/>
            </a:xfrm>
            <a:prstGeom prst="roundRect">
              <a:avLst>
                <a:gd name="adj" fmla="val 4761"/>
              </a:avLst>
            </a:prstGeom>
            <a:noFill/>
            <a:ln>
              <a:noFill/>
            </a:ln>
          </p:spPr>
        </p:pic>
        <p:sp>
          <p:nvSpPr>
            <p:cNvPr id="473" name="Google Shape;473;p37"/>
            <p:cNvSpPr/>
            <p:nvPr/>
          </p:nvSpPr>
          <p:spPr>
            <a:xfrm>
              <a:off x="571500" y="1333500"/>
              <a:ext cx="5334000" cy="4000500"/>
            </a:xfrm>
            <a:prstGeom prst="roundRect">
              <a:avLst>
                <a:gd name="adj" fmla="val 4761"/>
              </a:avLst>
            </a:prstGeom>
            <a:solidFill>
              <a:srgbClr val="000000">
                <a:alpha val="0"/>
              </a:srgbClr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4" name="Google Shape;474;p37"/>
          <p:cNvSpPr txBox="1"/>
          <p:nvPr/>
        </p:nvSpPr>
        <p:spPr>
          <a:xfrm>
            <a:off x="6096000" y="1333500"/>
            <a:ext cx="5429250" cy="4298100"/>
          </a:xfrm>
          <a:prstGeom prst="rect">
            <a:avLst/>
          </a:prstGeom>
          <a:solidFill>
            <a:srgbClr val="1E293B">
              <a:alpha val="85000"/>
            </a:srgbClr>
          </a:solidFill>
          <a:ln w="143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5250" rIns="0" bIns="0" anchor="t" anchorCtr="0">
            <a:noAutofit/>
          </a:bodyPr>
          <a:lstStyle/>
          <a:p>
            <a:pPr marL="447675" lvl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 err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Percurso</a:t>
            </a:r>
            <a:r>
              <a:rPr lang="en-US" sz="1600" b="1" dirty="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1" dirty="0" err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direto</a:t>
            </a:r>
            <a:endParaRPr sz="1600" b="1" dirty="0">
              <a:solidFill>
                <a:srgbClr val="60A5F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47675" lvl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dirty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lang="en-US" sz="1100" b="0" dirty="0" err="1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lê</a:t>
            </a:r>
            <a:r>
              <a:rPr lang="en-US" sz="1100" b="0" dirty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dirty="0" err="1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US" sz="1100" b="0" dirty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dirty="0" err="1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elementos</a:t>
            </a:r>
            <a:r>
              <a:rPr lang="en-US" sz="1100" b="0" dirty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da </a:t>
            </a:r>
            <a:r>
              <a:rPr lang="en-US" sz="1100" b="0" dirty="0" err="1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sequência</a:t>
            </a:r>
            <a:r>
              <a:rPr lang="en-US" sz="1100" b="0" dirty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dirty="0" err="1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na</a:t>
            </a:r>
            <a:r>
              <a:rPr lang="en-US" sz="1100" b="0" dirty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dirty="0" err="1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ordem</a:t>
            </a:r>
            <a:r>
              <a:rPr lang="en-US" sz="1100" b="0" dirty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dirty="0" err="1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em</a:t>
            </a:r>
            <a:r>
              <a:rPr lang="en-US" sz="1100" b="0" dirty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dirty="0" err="1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que</a:t>
            </a:r>
            <a:r>
              <a:rPr lang="en-US" sz="1100" b="0" dirty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dirty="0" err="1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aparecem</a:t>
            </a:r>
            <a:r>
              <a:rPr lang="en-US" sz="1100" b="0" dirty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100" b="0" dirty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47675" lvl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b="1" dirty="0" err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Leitura</a:t>
            </a:r>
            <a:r>
              <a:rPr lang="en-US" sz="1600" b="1" dirty="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1" dirty="0" err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mais</a:t>
            </a:r>
            <a:r>
              <a:rPr lang="en-US" sz="1600" b="1" dirty="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1" dirty="0" err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legível</a:t>
            </a:r>
            <a:endParaRPr sz="1600" b="1" dirty="0">
              <a:solidFill>
                <a:srgbClr val="60A5F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47675" lvl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dirty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Em </a:t>
            </a:r>
            <a:r>
              <a:rPr lang="en-US" sz="1100" b="0" dirty="0" err="1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muitos</a:t>
            </a:r>
            <a:r>
              <a:rPr lang="en-US" sz="1100" b="0" dirty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dirty="0" err="1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cenários</a:t>
            </a:r>
            <a:r>
              <a:rPr lang="en-US" sz="1100" b="0" dirty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100" b="0" dirty="0" err="1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evita</a:t>
            </a:r>
            <a:r>
              <a:rPr lang="en-US" sz="1100" b="0" dirty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dirty="0" err="1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contadores</a:t>
            </a:r>
            <a:r>
              <a:rPr lang="en-US" sz="1100" b="0" dirty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dirty="0" err="1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explícitos</a:t>
            </a:r>
            <a:r>
              <a:rPr lang="en-US" sz="1100" b="0" dirty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dirty="0" err="1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desnecessários</a:t>
            </a:r>
            <a:r>
              <a:rPr lang="en-US" sz="1100" b="0" dirty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100" b="0" dirty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47675" lvl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b="1" dirty="0" err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Mesmo</a:t>
            </a:r>
            <a:r>
              <a:rPr lang="en-US" sz="1600" b="1" dirty="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1" dirty="0" err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padrão</a:t>
            </a:r>
            <a:r>
              <a:rPr lang="en-US" sz="1600" b="1" dirty="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 para string e </a:t>
            </a:r>
            <a:r>
              <a:rPr lang="en-US" sz="1600" b="1" dirty="0" err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lista</a:t>
            </a:r>
            <a:endParaRPr sz="1600" b="1" dirty="0">
              <a:solidFill>
                <a:srgbClr val="60A5F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47675" lvl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dirty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1100" b="0" dirty="0" err="1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lógica</a:t>
            </a:r>
            <a:r>
              <a:rPr lang="en-US" sz="1100" b="0" dirty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100" b="0" dirty="0" err="1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percurso</a:t>
            </a:r>
            <a:r>
              <a:rPr lang="en-US" sz="1100" b="0" dirty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se </a:t>
            </a:r>
            <a:r>
              <a:rPr lang="en-US" sz="1100" b="0" dirty="0" err="1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mantém</a:t>
            </a:r>
            <a:r>
              <a:rPr lang="en-US" sz="1100" b="0" dirty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100" b="0" dirty="0" err="1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mudando</a:t>
            </a:r>
            <a:r>
              <a:rPr lang="en-US" sz="1100" b="0" dirty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dirty="0" err="1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apenas</a:t>
            </a:r>
            <a:r>
              <a:rPr lang="en-US" sz="1100" b="0" dirty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US" sz="1100" b="0" dirty="0" err="1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tipo</a:t>
            </a:r>
            <a:r>
              <a:rPr lang="en-US" sz="1100" b="0" dirty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dirty="0" err="1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percorrido</a:t>
            </a:r>
            <a:r>
              <a:rPr lang="en-US" sz="1100" b="0" dirty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100" b="0" dirty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47675" lvl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b="1" dirty="0" err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Relação</a:t>
            </a:r>
            <a:r>
              <a:rPr lang="en-US" sz="1600" b="1" dirty="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 com </a:t>
            </a:r>
            <a:r>
              <a:rPr lang="en-US" sz="1600" b="1" dirty="0" err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busca</a:t>
            </a:r>
            <a:r>
              <a:rPr lang="en-US" sz="1600" b="1" dirty="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1600" b="1" dirty="0" err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filtragem</a:t>
            </a:r>
            <a:endParaRPr sz="1600" b="1" dirty="0">
              <a:solidFill>
                <a:srgbClr val="60A5F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47675" lvl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dirty="0" err="1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Quase</a:t>
            </a:r>
            <a:r>
              <a:rPr lang="en-US" sz="1100" b="0" dirty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dirty="0" err="1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toda</a:t>
            </a:r>
            <a:r>
              <a:rPr lang="en-US" sz="1100" b="0" dirty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dirty="0" err="1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tarefa</a:t>
            </a:r>
            <a:r>
              <a:rPr lang="en-US" sz="1100" b="0" dirty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dirty="0" err="1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introdutória</a:t>
            </a:r>
            <a:r>
              <a:rPr lang="en-US" sz="1100" b="0" dirty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100" b="0" dirty="0" err="1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coleção</a:t>
            </a:r>
            <a:r>
              <a:rPr lang="en-US" sz="1100" b="0" dirty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dirty="0" err="1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começa</a:t>
            </a:r>
            <a:r>
              <a:rPr lang="en-US" sz="1100" b="0" dirty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com um for.</a:t>
            </a:r>
            <a:endParaRPr sz="1100" b="0" dirty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37"/>
          <p:cNvSpPr/>
          <p:nvPr/>
        </p:nvSpPr>
        <p:spPr>
          <a:xfrm>
            <a:off x="6524625" y="3619500"/>
            <a:ext cx="4857900" cy="1905000"/>
          </a:xfrm>
          <a:prstGeom prst="roundRect">
            <a:avLst>
              <a:gd name="adj" fmla="val 7500"/>
            </a:avLst>
          </a:prstGeom>
          <a:solidFill>
            <a:srgbClr val="000000">
              <a:alpha val="50000"/>
            </a:srgbClr>
          </a:solidFill>
          <a:ln w="9525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# Exemplo em Python</a:t>
            </a:r>
            <a:endParaRPr sz="1300" b="0">
              <a:solidFill>
                <a:srgbClr val="60A5F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for letra in "Python":</a:t>
            </a:r>
            <a:endParaRPr sz="1300" b="0">
              <a:solidFill>
                <a:srgbClr val="34D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print(letra)</a:t>
            </a:r>
            <a:endParaRPr sz="1300" b="0">
              <a:solidFill>
                <a:srgbClr val="34D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for fruta in ["maçã", "banana", "uva"]:</a:t>
            </a:r>
            <a:endParaRPr sz="1300" b="0">
              <a:solidFill>
                <a:srgbClr val="34D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print(fruta)</a:t>
            </a:r>
            <a:endParaRPr sz="1300" b="0">
              <a:solidFill>
                <a:srgbClr val="34D39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76" name="Google Shape;476;p37"/>
          <p:cNvSpPr txBox="1"/>
          <p:nvPr/>
        </p:nvSpPr>
        <p:spPr>
          <a:xfrm>
            <a:off x="365760" y="6492240"/>
            <a:ext cx="114300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9525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13 / 26</a:t>
            </a:r>
            <a:endParaRPr sz="1000" b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0" name="Google Shape;490;p39"/>
          <p:cNvPicPr preferRelativeResize="0"/>
          <p:nvPr/>
        </p:nvPicPr>
        <p:blipFill rotWithShape="1">
          <a:blip r:embed="rId3">
            <a:alphaModFix/>
          </a:blip>
          <a:srcRect l="1485" r="1475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1" name="Google Shape;491;p39"/>
          <p:cNvGrpSpPr/>
          <p:nvPr/>
        </p:nvGrpSpPr>
        <p:grpSpPr>
          <a:xfrm>
            <a:off x="457200" y="285750"/>
            <a:ext cx="11277600" cy="666900"/>
            <a:chOff x="457200" y="285750"/>
            <a:chExt cx="11277600" cy="666900"/>
          </a:xfrm>
        </p:grpSpPr>
        <p:sp>
          <p:nvSpPr>
            <p:cNvPr id="492" name="Google Shape;492;p39"/>
            <p:cNvSpPr/>
            <p:nvPr/>
          </p:nvSpPr>
          <p:spPr>
            <a:xfrm>
              <a:off x="457200" y="285750"/>
              <a:ext cx="11277600" cy="666900"/>
            </a:xfrm>
            <a:prstGeom prst="roundRect">
              <a:avLst>
                <a:gd name="adj" fmla="val 14285"/>
              </a:avLst>
            </a:prstGeom>
            <a:solidFill>
              <a:srgbClr val="1E293B">
                <a:alpha val="85000"/>
              </a:srgbClr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9"/>
            <p:cNvSpPr txBox="1"/>
            <p:nvPr/>
          </p:nvSpPr>
          <p:spPr>
            <a:xfrm>
              <a:off x="457200" y="285750"/>
              <a:ext cx="112776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Percurso por índice com range(len())</a:t>
              </a:r>
              <a:endParaRPr sz="3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4" name="Google Shape;494;p39"/>
          <p:cNvGrpSpPr/>
          <p:nvPr/>
        </p:nvGrpSpPr>
        <p:grpSpPr>
          <a:xfrm>
            <a:off x="571500" y="1333500"/>
            <a:ext cx="5334000" cy="4000500"/>
            <a:chOff x="571500" y="1333500"/>
            <a:chExt cx="5334000" cy="4000500"/>
          </a:xfrm>
        </p:grpSpPr>
        <p:sp>
          <p:nvSpPr>
            <p:cNvPr id="495" name="Google Shape;495;p39"/>
            <p:cNvSpPr/>
            <p:nvPr/>
          </p:nvSpPr>
          <p:spPr>
            <a:xfrm>
              <a:off x="571500" y="1333500"/>
              <a:ext cx="5334000" cy="4000500"/>
            </a:xfrm>
            <a:prstGeom prst="roundRect">
              <a:avLst>
                <a:gd name="adj" fmla="val 3571"/>
              </a:avLst>
            </a:prstGeom>
            <a:solidFill>
              <a:srgbClr val="1E293B">
                <a:alpha val="80000"/>
              </a:srgbClr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9"/>
            <p:cNvSpPr txBox="1"/>
            <p:nvPr/>
          </p:nvSpPr>
          <p:spPr>
            <a:xfrm>
              <a:off x="762000" y="1524000"/>
              <a:ext cx="49530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60A5FA"/>
                  </a:solidFill>
                  <a:latin typeface="Calibri"/>
                  <a:ea typeface="Calibri"/>
                  <a:cs typeface="Calibri"/>
                  <a:sym typeface="Calibri"/>
                </a:rPr>
                <a:t>Quando a posição importa</a:t>
              </a:r>
              <a:endParaRPr sz="1800" b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O índice é útil para ranking, substituição e comparação entre vizinhos.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34D399"/>
                  </a:solidFill>
                  <a:latin typeface="Calibri"/>
                  <a:ea typeface="Calibri"/>
                  <a:cs typeface="Calibri"/>
                  <a:sym typeface="Calibri"/>
                </a:rPr>
                <a:t>Geração de sequência numérica</a:t>
              </a:r>
              <a:endParaRPr sz="1800" b="1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range() fornece os índices válidos de forma controlada.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ACC15"/>
                  </a:solidFill>
                  <a:latin typeface="Calibri"/>
                  <a:ea typeface="Calibri"/>
                  <a:cs typeface="Calibri"/>
                  <a:sym typeface="Calibri"/>
                </a:rPr>
                <a:t>Leitura dupla</a:t>
              </a:r>
              <a:endParaRPr sz="1800" b="1">
                <a:solidFill>
                  <a:srgbClr val="FACC1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O estudante vê simultaneamente posição e valor.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87171"/>
                  </a:solidFill>
                  <a:latin typeface="Calibri"/>
                  <a:ea typeface="Calibri"/>
                  <a:cs typeface="Calibri"/>
                  <a:sym typeface="Calibri"/>
                </a:rPr>
                <a:t>Critério de uso</a:t>
              </a:r>
              <a:endParaRPr sz="1800" b="1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Escolha o percurso indexado apenas quando a posição tiver significado lógico.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7" name="Google Shape;497;p39"/>
          <p:cNvGrpSpPr/>
          <p:nvPr/>
        </p:nvGrpSpPr>
        <p:grpSpPr>
          <a:xfrm>
            <a:off x="6286500" y="1333500"/>
            <a:ext cx="5334000" cy="4000500"/>
            <a:chOff x="6286500" y="1333500"/>
            <a:chExt cx="5334000" cy="4000500"/>
          </a:xfrm>
        </p:grpSpPr>
        <p:sp>
          <p:nvSpPr>
            <p:cNvPr id="498" name="Google Shape;498;p39"/>
            <p:cNvSpPr/>
            <p:nvPr/>
          </p:nvSpPr>
          <p:spPr>
            <a:xfrm>
              <a:off x="6286500" y="1333500"/>
              <a:ext cx="5334000" cy="762000"/>
            </a:xfrm>
            <a:prstGeom prst="roundRect">
              <a:avLst>
                <a:gd name="adj" fmla="val 18750"/>
              </a:avLst>
            </a:prstGeom>
            <a:solidFill>
              <a:srgbClr val="1E293B">
                <a:alpha val="85000"/>
              </a:srgbClr>
            </a:solidFill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9"/>
            <p:cNvSpPr txBox="1"/>
            <p:nvPr/>
          </p:nvSpPr>
          <p:spPr>
            <a:xfrm>
              <a:off x="6286500" y="1333500"/>
              <a:ext cx="5334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Exemplo em Python</a:t>
              </a:r>
              <a:endParaRPr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39"/>
            <p:cNvSpPr/>
            <p:nvPr/>
          </p:nvSpPr>
          <p:spPr>
            <a:xfrm>
              <a:off x="6286500" y="2286000"/>
              <a:ext cx="5334000" cy="3048000"/>
            </a:xfrm>
            <a:prstGeom prst="roundRect">
              <a:avLst>
                <a:gd name="adj" fmla="val 4687"/>
              </a:avLst>
            </a:prstGeom>
            <a:solidFill>
              <a:srgbClr val="1E293B">
                <a:alpha val="85000"/>
              </a:srgbClr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9"/>
            <p:cNvSpPr txBox="1"/>
            <p:nvPr/>
          </p:nvSpPr>
          <p:spPr>
            <a:xfrm>
              <a:off x="6477000" y="2476500"/>
              <a:ext cx="4953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nomes = ["Ana", "Bruno", "Carla"]</a:t>
              </a:r>
              <a:endParaRPr sz="1600" b="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600" b="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for i in range(len(nomes)):</a:t>
              </a:r>
              <a:endParaRPr sz="1600" b="0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600" b="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print(i, nomes[i])</a:t>
              </a:r>
              <a:endParaRPr sz="1600" b="0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lang="en-US" sz="1200" b="0" i="1">
                  <a:solidFill>
                    <a:srgbClr val="94A3B8"/>
                  </a:solidFill>
                  <a:latin typeface="Calibri"/>
                  <a:ea typeface="Calibri"/>
                  <a:cs typeface="Calibri"/>
                  <a:sym typeface="Calibri"/>
                </a:rPr>
                <a:t># i representa o índice (0, 1, 2)</a:t>
              </a:r>
              <a:endParaRPr sz="1200" b="0" i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2" name="Google Shape;502;p39"/>
          <p:cNvSpPr txBox="1"/>
          <p:nvPr/>
        </p:nvSpPr>
        <p:spPr>
          <a:xfrm>
            <a:off x="10477500" y="6477000"/>
            <a:ext cx="13335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14 / 26</a:t>
            </a:r>
            <a:endParaRPr sz="1200" b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0" name="Google Shape;530;p41"/>
          <p:cNvPicPr preferRelativeResize="0"/>
          <p:nvPr/>
        </p:nvPicPr>
        <p:blipFill rotWithShape="1">
          <a:blip r:embed="rId4">
            <a:alphaModFix/>
          </a:blip>
          <a:srcRect l="1485" r="1475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41"/>
          <p:cNvSpPr txBox="1"/>
          <p:nvPr/>
        </p:nvSpPr>
        <p:spPr>
          <a:xfrm>
            <a:off x="457200" y="285750"/>
            <a:ext cx="11277600" cy="492600"/>
          </a:xfrm>
          <a:prstGeom prst="rect">
            <a:avLst/>
          </a:prstGeom>
          <a:solidFill>
            <a:srgbClr val="1E293B">
              <a:alpha val="85000"/>
            </a:srgb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50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Busca linear com for</a:t>
            </a:r>
            <a:endParaRPr sz="32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2" name="Google Shape;532;p41"/>
          <p:cNvGrpSpPr/>
          <p:nvPr/>
        </p:nvGrpSpPr>
        <p:grpSpPr>
          <a:xfrm>
            <a:off x="571500" y="1333500"/>
            <a:ext cx="5524500" cy="4572000"/>
            <a:chOff x="571500" y="1333500"/>
            <a:chExt cx="5524500" cy="4572000"/>
          </a:xfrm>
        </p:grpSpPr>
        <p:sp>
          <p:nvSpPr>
            <p:cNvPr id="533" name="Google Shape;533;p41"/>
            <p:cNvSpPr/>
            <p:nvPr/>
          </p:nvSpPr>
          <p:spPr>
            <a:xfrm>
              <a:off x="571500" y="1333500"/>
              <a:ext cx="5524500" cy="4572000"/>
            </a:xfrm>
            <a:prstGeom prst="roundRect">
              <a:avLst>
                <a:gd name="adj" fmla="val 4166"/>
              </a:avLst>
            </a:prstGeom>
            <a:solidFill>
              <a:srgbClr val="0F172A">
                <a:alpha val="85000"/>
              </a:srgbClr>
            </a:solidFill>
            <a:ln w="9525" cap="flat" cmpd="sng">
              <a:solidFill>
                <a:srgbClr val="4755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41"/>
            <p:cNvSpPr txBox="1"/>
            <p:nvPr/>
          </p:nvSpPr>
          <p:spPr>
            <a:xfrm>
              <a:off x="762000" y="1524000"/>
              <a:ext cx="51435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60A5FA"/>
                  </a:solidFill>
                  <a:latin typeface="Calibri"/>
                  <a:ea typeface="Calibri"/>
                  <a:cs typeface="Calibri"/>
                  <a:sym typeface="Calibri"/>
                </a:rPr>
                <a:t>Estratégia fundamental</a:t>
              </a:r>
              <a:endParaRPr sz="1800" b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Percorrer do início ao fim até localizar o elemento desejado.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34D399"/>
                  </a:solidFill>
                  <a:latin typeface="Calibri"/>
                  <a:ea typeface="Calibri"/>
                  <a:cs typeface="Calibri"/>
                  <a:sym typeface="Calibri"/>
                </a:rPr>
                <a:t>Condição de parada</a:t>
              </a:r>
              <a:endParaRPr sz="1800" b="1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break encerra a busca quando o objetivo já foi alcançado.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ACC15"/>
                  </a:solidFill>
                  <a:latin typeface="Calibri"/>
                  <a:ea typeface="Calibri"/>
                  <a:cs typeface="Calibri"/>
                  <a:sym typeface="Calibri"/>
                </a:rPr>
                <a:t>Adequação ao contexto</a:t>
              </a:r>
              <a:endParaRPr sz="1800" b="1">
                <a:solidFill>
                  <a:srgbClr val="FACC1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Em coleções pequenas, simplicidade e legibilidade compensam.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87171"/>
                  </a:solidFill>
                  <a:latin typeface="Calibri"/>
                  <a:ea typeface="Calibri"/>
                  <a:cs typeface="Calibri"/>
                  <a:sym typeface="Calibri"/>
                </a:rPr>
                <a:t>Base para abstrações futuras</a:t>
              </a:r>
              <a:endParaRPr sz="1800" b="1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A lógica reaparece em filtros, validações e algoritmos mais robustos.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5" name="Google Shape;535;p41"/>
          <p:cNvGrpSpPr/>
          <p:nvPr/>
        </p:nvGrpSpPr>
        <p:grpSpPr>
          <a:xfrm>
            <a:off x="6286500" y="1333500"/>
            <a:ext cx="5334000" cy="4572000"/>
            <a:chOff x="6286500" y="1333500"/>
            <a:chExt cx="5334000" cy="4572000"/>
          </a:xfrm>
        </p:grpSpPr>
        <p:sp>
          <p:nvSpPr>
            <p:cNvPr id="536" name="Google Shape;536;p41"/>
            <p:cNvSpPr/>
            <p:nvPr/>
          </p:nvSpPr>
          <p:spPr>
            <a:xfrm>
              <a:off x="6286500" y="1333500"/>
              <a:ext cx="5334000" cy="4572000"/>
            </a:xfrm>
            <a:prstGeom prst="roundRect">
              <a:avLst>
                <a:gd name="adj" fmla="val 4166"/>
              </a:avLst>
            </a:prstGeom>
            <a:solidFill>
              <a:srgbClr val="1E293B">
                <a:alpha val="85000"/>
              </a:srgbClr>
            </a:solidFill>
            <a:ln w="143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41"/>
            <p:cNvSpPr txBox="1"/>
            <p:nvPr/>
          </p:nvSpPr>
          <p:spPr>
            <a:xfrm>
              <a:off x="6477000" y="1476375"/>
              <a:ext cx="4953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10B981"/>
                  </a:solidFill>
                  <a:latin typeface="Calibri"/>
                  <a:ea typeface="Calibri"/>
                  <a:cs typeface="Calibri"/>
                  <a:sym typeface="Calibri"/>
                </a:rPr>
                <a:t>Lógica da Busca Linear</a:t>
              </a:r>
              <a:endParaRPr sz="1600" b="1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41"/>
            <p:cNvSpPr txBox="1"/>
            <p:nvPr/>
          </p:nvSpPr>
          <p:spPr>
            <a:xfrm>
              <a:off x="6477000" y="1905000"/>
              <a:ext cx="4953000" cy="19050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Exemplo prático</a:t>
              </a:r>
              <a:endParaRPr sz="1100" b="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alunos = ["Ana", "Bruno", "Carla"]</a:t>
              </a:r>
              <a:endParaRPr sz="1100" b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procurado = "Carla"</a:t>
              </a:r>
              <a:endParaRPr sz="1100" b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encontrado = False</a:t>
              </a:r>
              <a:endParaRPr sz="1100" b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for </a:t>
              </a:r>
              <a:r>
                <a:rPr lang="en-US" sz="1100" b="0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aluno</a:t>
              </a:r>
              <a:r>
                <a:rPr lang="en-US" sz="1100" b="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in </a:t>
              </a:r>
              <a:r>
                <a:rPr lang="en-US" sz="1100" b="0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alunos</a:t>
              </a:r>
              <a:r>
                <a:rPr lang="en-US" sz="1100" b="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endParaRPr sz="1100" b="0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if aluno == procurado:</a:t>
              </a:r>
              <a:endParaRPr sz="1100" b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encontrado = True</a:t>
              </a:r>
              <a:endParaRPr sz="1100" b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F8717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break</a:t>
              </a:r>
              <a:endParaRPr sz="1100" b="0">
                <a:solidFill>
                  <a:srgbClr val="F8717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39" name="Google Shape;539;p41"/>
            <p:cNvSpPr txBox="1"/>
            <p:nvPr/>
          </p:nvSpPr>
          <p:spPr>
            <a:xfrm>
              <a:off x="6477000" y="3952875"/>
              <a:ext cx="4953000" cy="17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60A5FA"/>
                  </a:solidFill>
                  <a:latin typeface="Calibri"/>
                  <a:ea typeface="Calibri"/>
                  <a:cs typeface="Calibri"/>
                  <a:sym typeface="Calibri"/>
                </a:rPr>
                <a:t>Fluxo simplificado:</a:t>
              </a:r>
              <a:endParaRPr sz="1200" b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ctr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[Início] → [Item atual] → [Comparação]</a:t>
              </a:r>
              <a:endParaRPr sz="12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ctr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↓</a:t>
              </a:r>
              <a:endParaRPr sz="12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34D399"/>
                  </a:solidFill>
                  <a:latin typeface="Calibri"/>
                  <a:ea typeface="Calibri"/>
                  <a:cs typeface="Calibri"/>
                  <a:sym typeface="Calibri"/>
                </a:rPr>
                <a:t>Achou? → [break] → [True]</a:t>
              </a:r>
              <a:endParaRPr sz="1200" b="0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ctr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↓</a:t>
              </a:r>
              <a:endParaRPr sz="12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F87171"/>
                  </a:solidFill>
                  <a:latin typeface="Calibri"/>
                  <a:ea typeface="Calibri"/>
                  <a:cs typeface="Calibri"/>
                  <a:sym typeface="Calibri"/>
                </a:rPr>
                <a:t>Fim da lista? → [False]</a:t>
              </a:r>
              <a:endParaRPr sz="1200" b="0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0" name="Google Shape;540;p41"/>
          <p:cNvSpPr txBox="1"/>
          <p:nvPr/>
        </p:nvSpPr>
        <p:spPr>
          <a:xfrm>
            <a:off x="365760" y="6477000"/>
            <a:ext cx="114300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9050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15/26</a:t>
            </a:r>
            <a:endParaRPr sz="1000" b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9" name="Google Shape;559;p43"/>
          <p:cNvPicPr preferRelativeResize="0"/>
          <p:nvPr/>
        </p:nvPicPr>
        <p:blipFill rotWithShape="1">
          <a:blip r:embed="rId3">
            <a:alphaModFix/>
          </a:blip>
          <a:srcRect l="1485" r="1475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43"/>
          <p:cNvSpPr txBox="1"/>
          <p:nvPr/>
        </p:nvSpPr>
        <p:spPr>
          <a:xfrm>
            <a:off x="457200" y="285750"/>
            <a:ext cx="11277600" cy="492600"/>
          </a:xfrm>
          <a:prstGeom prst="rect">
            <a:avLst/>
          </a:prstGeom>
          <a:solidFill>
            <a:srgbClr val="1E293B">
              <a:alpha val="85000"/>
            </a:srgb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50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Modelagem inicial com coleções lineares</a:t>
            </a:r>
            <a:endParaRPr sz="32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1" name="Google Shape;561;p43"/>
          <p:cNvGrpSpPr/>
          <p:nvPr/>
        </p:nvGrpSpPr>
        <p:grpSpPr>
          <a:xfrm>
            <a:off x="466725" y="1228725"/>
            <a:ext cx="5257800" cy="4448325"/>
            <a:chOff x="466725" y="1228725"/>
            <a:chExt cx="5257800" cy="4448325"/>
          </a:xfrm>
        </p:grpSpPr>
        <p:pic>
          <p:nvPicPr>
            <p:cNvPr id="562" name="Google Shape;562;p43" descr="A modern isometric infographic showing data organization. It features a sequence of labeled boxes: a single data string (String), a vertical stack representing a collection (List), and a magnifying glass over the list (Search). The style uses vibrant blue, emerald green, and white glows on a clean, technical dark background."/>
            <p:cNvPicPr preferRelativeResize="0"/>
            <p:nvPr/>
          </p:nvPicPr>
          <p:blipFill rotWithShape="1">
            <a:blip r:embed="rId4">
              <a:alphaModFix/>
            </a:blip>
            <a:srcRect l="5736" r="5745"/>
            <a:stretch/>
          </p:blipFill>
          <p:spPr>
            <a:xfrm>
              <a:off x="476250" y="1238250"/>
              <a:ext cx="5238900" cy="4438800"/>
            </a:xfrm>
            <a:prstGeom prst="roundRect">
              <a:avLst>
                <a:gd name="adj" fmla="val 3218"/>
              </a:avLst>
            </a:prstGeom>
            <a:noFill/>
            <a:ln>
              <a:noFill/>
            </a:ln>
          </p:spPr>
        </p:pic>
        <p:pic>
          <p:nvPicPr>
            <p:cNvPr id="563" name="Google Shape;563;p4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66725" y="1228725"/>
              <a:ext cx="5257800" cy="3914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64" name="Google Shape;564;p43"/>
          <p:cNvGrpSpPr/>
          <p:nvPr/>
        </p:nvGrpSpPr>
        <p:grpSpPr>
          <a:xfrm>
            <a:off x="6191250" y="1238250"/>
            <a:ext cx="5524500" cy="4619700"/>
            <a:chOff x="6191250" y="1238250"/>
            <a:chExt cx="5524500" cy="4619700"/>
          </a:xfrm>
        </p:grpSpPr>
        <p:sp>
          <p:nvSpPr>
            <p:cNvPr id="565" name="Google Shape;565;p43"/>
            <p:cNvSpPr/>
            <p:nvPr/>
          </p:nvSpPr>
          <p:spPr>
            <a:xfrm>
              <a:off x="6191250" y="1238250"/>
              <a:ext cx="5524500" cy="4619700"/>
            </a:xfrm>
            <a:prstGeom prst="roundRect">
              <a:avLst>
                <a:gd name="adj" fmla="val 2474"/>
              </a:avLst>
            </a:prstGeom>
            <a:solidFill>
              <a:srgbClr val="1E293B">
                <a:alpha val="85000"/>
              </a:srgbClr>
            </a:solidFill>
            <a:ln w="143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43"/>
            <p:cNvSpPr txBox="1"/>
            <p:nvPr/>
          </p:nvSpPr>
          <p:spPr>
            <a:xfrm>
              <a:off x="6381750" y="1381125"/>
              <a:ext cx="5143500" cy="428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9525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60A5FA"/>
                  </a:solidFill>
                  <a:latin typeface="Calibri"/>
                  <a:ea typeface="Calibri"/>
                  <a:cs typeface="Calibri"/>
                  <a:sym typeface="Calibri"/>
                </a:rPr>
                <a:t>String representa campo</a:t>
              </a:r>
              <a:endParaRPr sz="1800" b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Um nome individual, uma matrícula ou uma mensagem.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34D399"/>
                  </a:solidFill>
                  <a:latin typeface="Calibri"/>
                  <a:ea typeface="Calibri"/>
                  <a:cs typeface="Calibri"/>
                  <a:sym typeface="Calibri"/>
                </a:rPr>
                <a:t>Lista representa conjunto</a:t>
              </a:r>
              <a:endParaRPr sz="1800" b="1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Uma turma, notas de um aluno ou tarefas de uma atividade.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ACC15"/>
                  </a:solidFill>
                  <a:latin typeface="Calibri"/>
                  <a:ea typeface="Calibri"/>
                  <a:cs typeface="Calibri"/>
                  <a:sym typeface="Calibri"/>
                </a:rPr>
                <a:t>Modelar é decidir</a:t>
              </a:r>
              <a:endParaRPr sz="1800" b="1">
                <a:solidFill>
                  <a:srgbClr val="FACC1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A estrutura escolhida influencia legibilidade, manutenção e operações possíveis.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87171"/>
                  </a:solidFill>
                  <a:latin typeface="Calibri"/>
                  <a:ea typeface="Calibri"/>
                  <a:cs typeface="Calibri"/>
                  <a:sym typeface="Calibri"/>
                </a:rPr>
                <a:t>Pergunta de projeto</a:t>
              </a:r>
              <a:endParaRPr sz="1800" b="1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O dado é único ou há vários itens ordenados a tratar?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7" name="Google Shape;567;p43"/>
          <p:cNvSpPr txBox="1"/>
          <p:nvPr/>
        </p:nvSpPr>
        <p:spPr>
          <a:xfrm>
            <a:off x="10477500" y="6477000"/>
            <a:ext cx="13335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 / 26</a:t>
            </a:r>
            <a:endParaRPr sz="1200" b="0" i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9" name="Google Shape;579;p45"/>
          <p:cNvPicPr preferRelativeResize="0"/>
          <p:nvPr/>
        </p:nvPicPr>
        <p:blipFill rotWithShape="1">
          <a:blip r:embed="rId3">
            <a:alphaModFix/>
          </a:blip>
          <a:srcRect l="1485" r="1475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0" name="Google Shape;580;p45"/>
          <p:cNvGrpSpPr/>
          <p:nvPr/>
        </p:nvGrpSpPr>
        <p:grpSpPr>
          <a:xfrm>
            <a:off x="6286500" y="1238183"/>
            <a:ext cx="5238900" cy="2785262"/>
            <a:chOff x="6286500" y="1238250"/>
            <a:chExt cx="5238900" cy="4619775"/>
          </a:xfrm>
        </p:grpSpPr>
        <p:sp>
          <p:nvSpPr>
            <p:cNvPr id="581" name="Google Shape;581;p45"/>
            <p:cNvSpPr/>
            <p:nvPr/>
          </p:nvSpPr>
          <p:spPr>
            <a:xfrm>
              <a:off x="6286500" y="1238250"/>
              <a:ext cx="5238900" cy="1047900"/>
            </a:xfrm>
            <a:prstGeom prst="roundRect">
              <a:avLst>
                <a:gd name="adj" fmla="val 10909"/>
              </a:avLst>
            </a:prstGeom>
            <a:solidFill>
              <a:srgbClr val="1E293B">
                <a:alpha val="85000"/>
              </a:srgbClr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45"/>
            <p:cNvSpPr txBox="1"/>
            <p:nvPr/>
          </p:nvSpPr>
          <p:spPr>
            <a:xfrm>
              <a:off x="6429375" y="1238250"/>
              <a:ext cx="4953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60A5FA"/>
                  </a:solidFill>
                  <a:latin typeface="Calibri"/>
                  <a:ea typeface="Calibri"/>
                  <a:cs typeface="Calibri"/>
                  <a:sym typeface="Calibri"/>
                </a:rPr>
                <a:t>Use string quando...</a:t>
              </a:r>
              <a:endParaRPr sz="2000" b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o dado principal for textual e semanticamente indivisível.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45"/>
            <p:cNvSpPr/>
            <p:nvPr/>
          </p:nvSpPr>
          <p:spPr>
            <a:xfrm>
              <a:off x="6286500" y="2428875"/>
              <a:ext cx="5238900" cy="1047900"/>
            </a:xfrm>
            <a:prstGeom prst="roundRect">
              <a:avLst>
                <a:gd name="adj" fmla="val 10909"/>
              </a:avLst>
            </a:prstGeom>
            <a:solidFill>
              <a:srgbClr val="1E293B">
                <a:alpha val="85000"/>
              </a:srgbClr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45"/>
            <p:cNvSpPr txBox="1"/>
            <p:nvPr/>
          </p:nvSpPr>
          <p:spPr>
            <a:xfrm>
              <a:off x="6429375" y="2428875"/>
              <a:ext cx="4953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34D399"/>
                  </a:solidFill>
                  <a:latin typeface="Calibri"/>
                  <a:ea typeface="Calibri"/>
                  <a:cs typeface="Calibri"/>
                  <a:sym typeface="Calibri"/>
                </a:rPr>
                <a:t>Use lista quando...</a:t>
              </a:r>
              <a:endParaRPr sz="2000" b="1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for necessário agrupar vários elementos da mesma categoria.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45"/>
            <p:cNvSpPr/>
            <p:nvPr/>
          </p:nvSpPr>
          <p:spPr>
            <a:xfrm>
              <a:off x="6286500" y="3619500"/>
              <a:ext cx="5238900" cy="1047900"/>
            </a:xfrm>
            <a:prstGeom prst="roundRect">
              <a:avLst>
                <a:gd name="adj" fmla="val 10909"/>
              </a:avLst>
            </a:prstGeom>
            <a:solidFill>
              <a:srgbClr val="1E293B">
                <a:alpha val="85000"/>
              </a:srgbClr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45"/>
            <p:cNvSpPr txBox="1"/>
            <p:nvPr/>
          </p:nvSpPr>
          <p:spPr>
            <a:xfrm>
              <a:off x="6429375" y="3619500"/>
              <a:ext cx="4953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FACC15"/>
                  </a:solidFill>
                  <a:latin typeface="Calibri"/>
                  <a:ea typeface="Calibri"/>
                  <a:cs typeface="Calibri"/>
                  <a:sym typeface="Calibri"/>
                </a:rPr>
                <a:t>Percorra por item quando...</a:t>
              </a:r>
              <a:endParaRPr sz="2000" b="1">
                <a:solidFill>
                  <a:srgbClr val="FACC1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o valor do elemento importar mais que sua posição.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45"/>
            <p:cNvSpPr/>
            <p:nvPr/>
          </p:nvSpPr>
          <p:spPr>
            <a:xfrm>
              <a:off x="6286500" y="4810125"/>
              <a:ext cx="5238900" cy="1047900"/>
            </a:xfrm>
            <a:prstGeom prst="roundRect">
              <a:avLst>
                <a:gd name="adj" fmla="val 10909"/>
              </a:avLst>
            </a:prstGeom>
            <a:solidFill>
              <a:srgbClr val="1E293B">
                <a:alpha val="85000"/>
              </a:srgbClr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45"/>
            <p:cNvSpPr txBox="1"/>
            <p:nvPr/>
          </p:nvSpPr>
          <p:spPr>
            <a:xfrm>
              <a:off x="6429375" y="4810125"/>
              <a:ext cx="4953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F87171"/>
                  </a:solidFill>
                  <a:latin typeface="Calibri"/>
                  <a:ea typeface="Calibri"/>
                  <a:cs typeface="Calibri"/>
                  <a:sym typeface="Calibri"/>
                </a:rPr>
                <a:t>Percorra por índice quando...</a:t>
              </a:r>
              <a:endParaRPr sz="2000" b="1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a posição influenciar decisões e comparações.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9" name="Google Shape;589;p45"/>
          <p:cNvGrpSpPr/>
          <p:nvPr/>
        </p:nvGrpSpPr>
        <p:grpSpPr>
          <a:xfrm>
            <a:off x="571500" y="1238250"/>
            <a:ext cx="5238900" cy="4619700"/>
            <a:chOff x="571500" y="1238250"/>
            <a:chExt cx="5238900" cy="4619700"/>
          </a:xfrm>
        </p:grpSpPr>
        <p:pic>
          <p:nvPicPr>
            <p:cNvPr id="590" name="Google Shape;590;p45" descr="A clean, 3D isometric infographic showing a choice between a single text string and a structured vertical list of data items. The style uses neon blue and emerald green accents on a dark slate background, representing data structure decision making in programming."/>
            <p:cNvPicPr preferRelativeResize="0"/>
            <p:nvPr/>
          </p:nvPicPr>
          <p:blipFill rotWithShape="1">
            <a:blip r:embed="rId4">
              <a:alphaModFix/>
            </a:blip>
            <a:srcRect l="7476" r="7476"/>
            <a:stretch/>
          </p:blipFill>
          <p:spPr>
            <a:xfrm>
              <a:off x="571500" y="1238250"/>
              <a:ext cx="5238900" cy="4619700"/>
            </a:xfrm>
            <a:prstGeom prst="roundRect">
              <a:avLst>
                <a:gd name="adj" fmla="val 3092"/>
              </a:avLst>
            </a:prstGeom>
            <a:noFill/>
            <a:ln>
              <a:noFill/>
            </a:ln>
          </p:spPr>
        </p:pic>
        <p:sp>
          <p:nvSpPr>
            <p:cNvPr id="591" name="Google Shape;591;p45"/>
            <p:cNvSpPr/>
            <p:nvPr/>
          </p:nvSpPr>
          <p:spPr>
            <a:xfrm>
              <a:off x="571500" y="1238250"/>
              <a:ext cx="5238900" cy="4619700"/>
            </a:xfrm>
            <a:prstGeom prst="roundRect">
              <a:avLst>
                <a:gd name="adj" fmla="val 3092"/>
              </a:avLst>
            </a:prstGeom>
            <a:solidFill>
              <a:srgbClr val="000000">
                <a:alpha val="0"/>
              </a:srgbClr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2" name="Google Shape;592;p45"/>
          <p:cNvSpPr txBox="1"/>
          <p:nvPr/>
        </p:nvSpPr>
        <p:spPr>
          <a:xfrm>
            <a:off x="457200" y="320040"/>
            <a:ext cx="110643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Critérios para escolher a estrutura</a:t>
            </a:r>
            <a:endParaRPr sz="3200" b="1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45"/>
          <p:cNvSpPr txBox="1"/>
          <p:nvPr/>
        </p:nvSpPr>
        <p:spPr>
          <a:xfrm>
            <a:off x="365760" y="6492240"/>
            <a:ext cx="114300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9050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17/26</a:t>
            </a:r>
            <a:endParaRPr sz="1000" b="0" i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94" name="Google Shape;594;p45"/>
          <p:cNvGraphicFramePr/>
          <p:nvPr/>
        </p:nvGraphicFramePr>
        <p:xfrm>
          <a:off x="6286510" y="4144140"/>
          <a:ext cx="5235000" cy="1818030"/>
        </p:xfrm>
        <a:graphic>
          <a:graphicData uri="http://schemas.openxmlformats.org/drawingml/2006/table">
            <a:tbl>
              <a:tblPr firstRow="1" bandRow="1">
                <a:noFill/>
                <a:tableStyleId>{ED642883-BA0C-44AA-9594-52904E38D95D}</a:tableStyleId>
              </a:tblPr>
              <a:tblGrid>
                <a:gridCol w="174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</a:rPr>
                        <a:t>Critério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</a:rPr>
                        <a:t>String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</a:rPr>
                        <a:t>Lista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1F2937"/>
                          </a:solidFill>
                        </a:rPr>
                        <a:t>Conteúdo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1F2937"/>
                          </a:solidFill>
                        </a:rPr>
                        <a:t>Texto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1F2937"/>
                          </a:solidFill>
                        </a:rPr>
                        <a:t>Objetos em sequência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1F2937"/>
                          </a:solidFill>
                        </a:rPr>
                        <a:t>Mutabilidade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1F2937"/>
                          </a:solidFill>
                        </a:rPr>
                        <a:t>Trabalha com nova string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1F2937"/>
                          </a:solidFill>
                        </a:rPr>
                        <a:t>Altera a própria coleção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1F2937"/>
                          </a:solidFill>
                        </a:rPr>
                        <a:t>Uso típico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1F2937"/>
                          </a:solidFill>
                        </a:rPr>
                        <a:t>Mensagens, nomes, códigos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1F2937"/>
                          </a:solidFill>
                        </a:rPr>
                        <a:t>Turmas, notas, tarefas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1F2937"/>
                          </a:solidFill>
                        </a:rPr>
                        <a:t>Operações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1F2937"/>
                          </a:solidFill>
                        </a:rPr>
                        <a:t>split, strip, replace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1F2937"/>
                          </a:solidFill>
                        </a:rPr>
                        <a:t>append, remove, sort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8" name="Google Shape;608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86538" y="0"/>
            <a:ext cx="1256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47"/>
          <p:cNvSpPr/>
          <p:nvPr/>
        </p:nvSpPr>
        <p:spPr>
          <a:xfrm>
            <a:off x="457200" y="285750"/>
            <a:ext cx="11277600" cy="666900"/>
          </a:xfrm>
          <a:prstGeom prst="roundRect">
            <a:avLst>
              <a:gd name="adj" fmla="val 14285"/>
            </a:avLst>
          </a:prstGeom>
          <a:solidFill>
            <a:srgbClr val="1E293B">
              <a:alpha val="85000"/>
            </a:srgb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47"/>
          <p:cNvSpPr txBox="1"/>
          <p:nvPr/>
        </p:nvSpPr>
        <p:spPr>
          <a:xfrm>
            <a:off x="457200" y="320040"/>
            <a:ext cx="110643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19050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Limitações e erros comuns</a:t>
            </a:r>
            <a:endParaRPr sz="32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1" name="Google Shape;611;p47"/>
          <p:cNvGrpSpPr/>
          <p:nvPr/>
        </p:nvGrpSpPr>
        <p:grpSpPr>
          <a:xfrm>
            <a:off x="571500" y="1238250"/>
            <a:ext cx="5524500" cy="4572000"/>
            <a:chOff x="571500" y="1238250"/>
            <a:chExt cx="5524500" cy="4572000"/>
          </a:xfrm>
        </p:grpSpPr>
        <p:sp>
          <p:nvSpPr>
            <p:cNvPr id="612" name="Google Shape;612;p47"/>
            <p:cNvSpPr/>
            <p:nvPr/>
          </p:nvSpPr>
          <p:spPr>
            <a:xfrm>
              <a:off x="571500" y="1238250"/>
              <a:ext cx="5524500" cy="4572000"/>
            </a:xfrm>
            <a:prstGeom prst="roundRect">
              <a:avLst>
                <a:gd name="adj" fmla="val 4166"/>
              </a:avLst>
            </a:prstGeom>
            <a:solidFill>
              <a:srgbClr val="1E293B">
                <a:alpha val="85000"/>
              </a:srgbClr>
            </a:solidFill>
            <a:ln w="143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47"/>
            <p:cNvSpPr txBox="1"/>
            <p:nvPr/>
          </p:nvSpPr>
          <p:spPr>
            <a:xfrm>
              <a:off x="762000" y="1428750"/>
              <a:ext cx="51435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60A5FA"/>
                  </a:solidFill>
                  <a:latin typeface="Calibri"/>
                  <a:ea typeface="Calibri"/>
                  <a:cs typeface="Calibri"/>
                  <a:sym typeface="Calibri"/>
                </a:rPr>
                <a:t>Confundir índice com valor</a:t>
              </a:r>
              <a:endParaRPr sz="2000" b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posição 1 não é o elemento; é o endereço lógico dele.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34D399"/>
                  </a:solidFill>
                  <a:latin typeface="Calibri"/>
                  <a:ea typeface="Calibri"/>
                  <a:cs typeface="Calibri"/>
                  <a:sym typeface="Calibri"/>
                </a:rPr>
                <a:t>Acessar fora do intervalo</a:t>
              </a:r>
              <a:endParaRPr sz="2000" b="1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erros de índice ocorrem quando o limite do conjunto é ignorado.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FACC15"/>
                  </a:solidFill>
                  <a:latin typeface="Calibri"/>
                  <a:ea typeface="Calibri"/>
                  <a:cs typeface="Calibri"/>
                  <a:sym typeface="Calibri"/>
                </a:rPr>
                <a:t>Modificar lista durante o percurso</a:t>
              </a:r>
              <a:endParaRPr sz="2000" b="1">
                <a:solidFill>
                  <a:srgbClr val="FACC1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remover elementos no mesmo for pode produzir comportamento inesperado.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F87171"/>
                  </a:solidFill>
                  <a:latin typeface="Calibri"/>
                  <a:ea typeface="Calibri"/>
                  <a:cs typeface="Calibri"/>
                  <a:sym typeface="Calibri"/>
                </a:rPr>
                <a:t>Esperar retorno de sort()</a:t>
              </a:r>
              <a:endParaRPr sz="2000" b="1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métodos mutáveis alteram a lista e não devolvem uma nova coleção.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4" name="Google Shape;614;p47"/>
          <p:cNvSpPr/>
          <p:nvPr/>
        </p:nvSpPr>
        <p:spPr>
          <a:xfrm>
            <a:off x="6400800" y="1238250"/>
            <a:ext cx="2011800" cy="320100"/>
          </a:xfrm>
          <a:prstGeom prst="roundRect">
            <a:avLst>
              <a:gd name="adj" fmla="val 16666"/>
            </a:avLst>
          </a:prstGeom>
          <a:solidFill>
            <a:srgbClr val="2563EB">
              <a:alpha val="90000"/>
            </a:srgb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Exemplo em Python</a:t>
            </a:r>
            <a:endParaRPr sz="12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47"/>
          <p:cNvSpPr/>
          <p:nvPr/>
        </p:nvSpPr>
        <p:spPr>
          <a:xfrm>
            <a:off x="6400800" y="1666875"/>
            <a:ext cx="5212200" cy="4143300"/>
          </a:xfrm>
          <a:prstGeom prst="roundRect">
            <a:avLst>
              <a:gd name="adj" fmla="val 4597"/>
            </a:avLst>
          </a:prstGeom>
          <a:solidFill>
            <a:srgbClr val="1E293B">
              <a:alpha val="85000"/>
            </a:srgbClr>
          </a:solidFill>
          <a:ln w="143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# Exemplo de erro comum com sort()</a:t>
            </a:r>
            <a:endParaRPr sz="1600" b="0">
              <a:solidFill>
                <a:srgbClr val="CBD5E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lista = [3, 1, 2]</a:t>
            </a:r>
            <a:endParaRPr sz="1600" b="0">
              <a:solidFill>
                <a:srgbClr val="34D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resultado = lista.sort()</a:t>
            </a:r>
            <a:endParaRPr sz="1600" b="0">
              <a:solidFill>
                <a:srgbClr val="34D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# Esperar que 'resultado' tenha a lista:</a:t>
            </a:r>
            <a:endParaRPr sz="1600" b="0">
              <a:solidFill>
                <a:srgbClr val="94A3B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print(resultado) </a:t>
            </a:r>
            <a:r>
              <a:rPr lang="en-US" sz="1600" b="0">
                <a:solidFill>
                  <a:srgbClr val="F87171"/>
                </a:solidFill>
                <a:latin typeface="Courier New"/>
                <a:ea typeface="Courier New"/>
                <a:cs typeface="Courier New"/>
                <a:sym typeface="Courier New"/>
              </a:rPr>
              <a:t># Saída: None</a:t>
            </a:r>
            <a:endParaRPr sz="1600" b="0">
              <a:solidFill>
                <a:srgbClr val="34D3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# A lista original é que foi alterada:</a:t>
            </a:r>
            <a:endParaRPr sz="1600" b="0">
              <a:solidFill>
                <a:srgbClr val="94A3B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print(lista) </a:t>
            </a:r>
            <a:r>
              <a:rPr lang="en-US" sz="1600" b="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# Saída: [1, 2, 3]</a:t>
            </a:r>
            <a:endParaRPr sz="1600" b="0">
              <a:solidFill>
                <a:srgbClr val="34D39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16" name="Google Shape;616;p47"/>
          <p:cNvSpPr txBox="1"/>
          <p:nvPr/>
        </p:nvSpPr>
        <p:spPr>
          <a:xfrm>
            <a:off x="365760" y="6492240"/>
            <a:ext cx="114300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9050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18/26</a:t>
            </a:r>
            <a:endParaRPr sz="1000" b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86538" y="0"/>
            <a:ext cx="1256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9"/>
          <p:cNvSpPr txBox="1"/>
          <p:nvPr/>
        </p:nvSpPr>
        <p:spPr>
          <a:xfrm>
            <a:off x="457200" y="320040"/>
            <a:ext cx="110643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Discussão orientada</a:t>
            </a:r>
            <a:endParaRPr sz="3200" b="1">
              <a:solidFill>
                <a:srgbClr val="F8FA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37" name="Google Shape;637;p49"/>
          <p:cNvGrpSpPr/>
          <p:nvPr/>
        </p:nvGrpSpPr>
        <p:grpSpPr>
          <a:xfrm>
            <a:off x="561975" y="1323975"/>
            <a:ext cx="5257800" cy="4581525"/>
            <a:chOff x="561975" y="1323975"/>
            <a:chExt cx="5257800" cy="4581525"/>
          </a:xfrm>
        </p:grpSpPr>
        <p:pic>
          <p:nvPicPr>
            <p:cNvPr id="638" name="Google Shape;638;p49" descr="A clean, 3D isometric infographic showing a classroom discussion about data modeling. One side shows a single messy text string &quot;Ana,Bruno,Carla&quot;, and the other side shows an organized list or array. Connecting them are technical icons for processing, frequency, and update speed. Modern tech style, neon blue and emerald accents."/>
            <p:cNvPicPr preferRelativeResize="0"/>
            <p:nvPr/>
          </p:nvPicPr>
          <p:blipFill rotWithShape="1">
            <a:blip r:embed="rId4">
              <a:alphaModFix/>
            </a:blip>
            <a:srcRect t="6362" b="6362"/>
            <a:stretch/>
          </p:blipFill>
          <p:spPr>
            <a:xfrm>
              <a:off x="571500" y="1333500"/>
              <a:ext cx="5238900" cy="4572000"/>
            </a:xfrm>
            <a:prstGeom prst="roundRect">
              <a:avLst>
                <a:gd name="adj" fmla="val 4166"/>
              </a:avLst>
            </a:prstGeom>
            <a:noFill/>
            <a:ln>
              <a:noFill/>
            </a:ln>
          </p:spPr>
        </p:pic>
        <p:pic>
          <p:nvPicPr>
            <p:cNvPr id="639" name="Google Shape;639;p4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61975" y="1323975"/>
              <a:ext cx="5257800" cy="3819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40" name="Google Shape;640;p49"/>
          <p:cNvGrpSpPr/>
          <p:nvPr/>
        </p:nvGrpSpPr>
        <p:grpSpPr>
          <a:xfrm>
            <a:off x="6191250" y="1143000"/>
            <a:ext cx="5524500" cy="4953000"/>
            <a:chOff x="6191250" y="1143000"/>
            <a:chExt cx="5524500" cy="4953000"/>
          </a:xfrm>
        </p:grpSpPr>
        <p:sp>
          <p:nvSpPr>
            <p:cNvPr id="641" name="Google Shape;641;p49"/>
            <p:cNvSpPr/>
            <p:nvPr/>
          </p:nvSpPr>
          <p:spPr>
            <a:xfrm>
              <a:off x="6191250" y="1143000"/>
              <a:ext cx="5524500" cy="4953000"/>
            </a:xfrm>
            <a:prstGeom prst="roundRect">
              <a:avLst>
                <a:gd name="adj" fmla="val 2884"/>
              </a:avLst>
            </a:prstGeom>
            <a:solidFill>
              <a:srgbClr val="1E293B">
                <a:alpha val="85000"/>
              </a:srgbClr>
            </a:solidFill>
            <a:ln w="143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49"/>
            <p:cNvSpPr txBox="1"/>
            <p:nvPr/>
          </p:nvSpPr>
          <p:spPr>
            <a:xfrm>
              <a:off x="6381750" y="1333500"/>
              <a:ext cx="5143500" cy="457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60A5FA"/>
                  </a:solidFill>
                  <a:latin typeface="Calibri"/>
                  <a:ea typeface="Calibri"/>
                  <a:cs typeface="Calibri"/>
                  <a:sym typeface="Calibri"/>
                </a:rPr>
                <a:t>Pergunta para a turma</a:t>
              </a:r>
              <a:endParaRPr sz="2000" b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Se o sistema recebe um único texto “Ana,Bruno,Carla”, ele já está bem modelado?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34D399"/>
                  </a:solidFill>
                  <a:latin typeface="Calibri"/>
                  <a:ea typeface="Calibri"/>
                  <a:cs typeface="Calibri"/>
                  <a:sym typeface="Calibri"/>
                </a:rPr>
                <a:t>Critério de análise</a:t>
              </a:r>
              <a:endParaRPr sz="2000" b="1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Reflita sobre frequência de consulta, atualização e necessidade de percurso.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FACC15"/>
                  </a:solidFill>
                  <a:latin typeface="Calibri"/>
                  <a:ea typeface="Calibri"/>
                  <a:cs typeface="Calibri"/>
                  <a:sym typeface="Calibri"/>
                </a:rPr>
                <a:t>Relação teoria-prática</a:t>
              </a:r>
              <a:endParaRPr sz="2000" b="1">
                <a:solidFill>
                  <a:srgbClr val="FACC1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O formato mais conveniente para digitação nem sempre é o melhor para processamento.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F87171"/>
                  </a:solidFill>
                  <a:latin typeface="Calibri"/>
                  <a:ea typeface="Calibri"/>
                  <a:cs typeface="Calibri"/>
                  <a:sym typeface="Calibri"/>
                </a:rPr>
                <a:t>Objetivo da discussão</a:t>
              </a:r>
              <a:endParaRPr sz="2000" b="1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Justificar a troca de representação com argumentos técnicos, não apenas sintáticos.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3" name="Google Shape;643;p49"/>
          <p:cNvSpPr txBox="1"/>
          <p:nvPr/>
        </p:nvSpPr>
        <p:spPr>
          <a:xfrm>
            <a:off x="365760" y="6492240"/>
            <a:ext cx="114300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9050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19/26</a:t>
            </a:r>
            <a:endParaRPr sz="10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0" name="Google Shape;660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86538" y="0"/>
            <a:ext cx="1256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51"/>
          <p:cNvSpPr txBox="1"/>
          <p:nvPr/>
        </p:nvSpPr>
        <p:spPr>
          <a:xfrm>
            <a:off x="457200" y="320040"/>
            <a:ext cx="11064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Miniatividade conceitual</a:t>
            </a:r>
            <a:endParaRPr/>
          </a:p>
        </p:txBody>
      </p:sp>
      <p:grpSp>
        <p:nvGrpSpPr>
          <p:cNvPr id="662" name="Google Shape;662;p51"/>
          <p:cNvGrpSpPr/>
          <p:nvPr/>
        </p:nvGrpSpPr>
        <p:grpSpPr>
          <a:xfrm>
            <a:off x="457200" y="285750"/>
            <a:ext cx="11277600" cy="666900"/>
            <a:chOff x="457200" y="285750"/>
            <a:chExt cx="11277600" cy="666900"/>
          </a:xfrm>
        </p:grpSpPr>
        <p:sp>
          <p:nvSpPr>
            <p:cNvPr id="663" name="Google Shape;663;p51"/>
            <p:cNvSpPr/>
            <p:nvPr/>
          </p:nvSpPr>
          <p:spPr>
            <a:xfrm>
              <a:off x="457200" y="285750"/>
              <a:ext cx="11277600" cy="666900"/>
            </a:xfrm>
            <a:prstGeom prst="roundRect">
              <a:avLst>
                <a:gd name="adj" fmla="val 14285"/>
              </a:avLst>
            </a:prstGeom>
            <a:solidFill>
              <a:srgbClr val="1E293B">
                <a:alpha val="85000"/>
              </a:srgbClr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51"/>
            <p:cNvSpPr txBox="1"/>
            <p:nvPr/>
          </p:nvSpPr>
          <p:spPr>
            <a:xfrm>
              <a:off x="457200" y="285750"/>
              <a:ext cx="112776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19050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Miniatividade conceitual</a:t>
              </a:r>
              <a:endParaRPr sz="3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5" name="Google Shape;665;p51"/>
          <p:cNvGrpSpPr/>
          <p:nvPr/>
        </p:nvGrpSpPr>
        <p:grpSpPr>
          <a:xfrm>
            <a:off x="571500" y="1333500"/>
            <a:ext cx="5334000" cy="4572000"/>
            <a:chOff x="571500" y="1333500"/>
            <a:chExt cx="5334000" cy="4572000"/>
          </a:xfrm>
        </p:grpSpPr>
        <p:sp>
          <p:nvSpPr>
            <p:cNvPr id="666" name="Google Shape;666;p51"/>
            <p:cNvSpPr/>
            <p:nvPr/>
          </p:nvSpPr>
          <p:spPr>
            <a:xfrm>
              <a:off x="571500" y="1333500"/>
              <a:ext cx="5334000" cy="4572000"/>
            </a:xfrm>
            <a:prstGeom prst="roundRect">
              <a:avLst>
                <a:gd name="adj" fmla="val 4166"/>
              </a:avLst>
            </a:prstGeom>
            <a:solidFill>
              <a:srgbClr val="1E293B">
                <a:alpha val="85000"/>
              </a:srgbClr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51"/>
            <p:cNvSpPr txBox="1"/>
            <p:nvPr/>
          </p:nvSpPr>
          <p:spPr>
            <a:xfrm>
              <a:off x="762000" y="1524000"/>
              <a:ext cx="4953000" cy="419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60A5FA"/>
                  </a:solidFill>
                  <a:latin typeface="Calibri"/>
                  <a:ea typeface="Calibri"/>
                  <a:cs typeface="Calibri"/>
                  <a:sym typeface="Calibri"/>
                </a:rPr>
                <a:t>Desafio rápido</a:t>
              </a:r>
              <a:endParaRPr sz="1800" b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Classifique cada dado como string ou lista: nome completo, notas do bimestre, comentário, tarefas.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34D399"/>
                  </a:solidFill>
                  <a:latin typeface="Calibri"/>
                  <a:ea typeface="Calibri"/>
                  <a:cs typeface="Calibri"/>
                  <a:sym typeface="Calibri"/>
                </a:rPr>
                <a:t>Passo 1</a:t>
              </a:r>
              <a:endParaRPr sz="1800" b="1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Defina a estrutura apropriada para cada exemplo.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ACC15"/>
                  </a:solidFill>
                  <a:latin typeface="Calibri"/>
                  <a:ea typeface="Calibri"/>
                  <a:cs typeface="Calibri"/>
                  <a:sym typeface="Calibri"/>
                </a:rPr>
                <a:t>Passo 2</a:t>
              </a:r>
              <a:endParaRPr sz="1800" b="1">
                <a:solidFill>
                  <a:srgbClr val="FACC1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Explique qual operação seria mais comum: limpar texto, adicionar item, buscar ou fatiar.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87171"/>
                  </a:solidFill>
                  <a:latin typeface="Calibri"/>
                  <a:ea typeface="Calibri"/>
                  <a:cs typeface="Calibri"/>
                  <a:sym typeface="Calibri"/>
                </a:rPr>
                <a:t>Meta cognitiva</a:t>
              </a:r>
              <a:endParaRPr sz="1800" b="1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Transformar o conceito em decisão de projeto.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8" name="Google Shape;668;p51"/>
          <p:cNvGrpSpPr/>
          <p:nvPr/>
        </p:nvGrpSpPr>
        <p:grpSpPr>
          <a:xfrm>
            <a:off x="6286500" y="1333500"/>
            <a:ext cx="5143500" cy="2857650"/>
            <a:chOff x="6286500" y="1333500"/>
            <a:chExt cx="5143500" cy="2857650"/>
          </a:xfrm>
        </p:grpSpPr>
        <p:grpSp>
          <p:nvGrpSpPr>
            <p:cNvPr id="669" name="Google Shape;669;p51"/>
            <p:cNvGrpSpPr/>
            <p:nvPr/>
          </p:nvGrpSpPr>
          <p:grpSpPr>
            <a:xfrm>
              <a:off x="6286500" y="1333500"/>
              <a:ext cx="2476500" cy="1238400"/>
              <a:chOff x="6286500" y="1333500"/>
              <a:chExt cx="2476500" cy="1238400"/>
            </a:xfrm>
          </p:grpSpPr>
          <p:sp>
            <p:nvSpPr>
              <p:cNvPr id="670" name="Google Shape;670;p51"/>
              <p:cNvSpPr/>
              <p:nvPr/>
            </p:nvSpPr>
            <p:spPr>
              <a:xfrm>
                <a:off x="6286500" y="1333500"/>
                <a:ext cx="2476500" cy="1238400"/>
              </a:xfrm>
              <a:prstGeom prst="roundRect">
                <a:avLst>
                  <a:gd name="adj" fmla="val 9230"/>
                </a:avLst>
              </a:prstGeom>
              <a:solidFill>
                <a:srgbClr val="1E293B">
                  <a:alpha val="60000"/>
                </a:srgbClr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51"/>
              <p:cNvSpPr txBox="1"/>
              <p:nvPr/>
            </p:nvSpPr>
            <p:spPr>
              <a:xfrm>
                <a:off x="6286500" y="1333500"/>
                <a:ext cx="2476500" cy="12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 b="1">
                    <a:solidFill>
                      <a:srgbClr val="60A5F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String</a:t>
                </a:r>
                <a:endParaRPr sz="2800" b="1">
                  <a:solidFill>
                    <a:srgbClr val="60A5F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lvl="0" indent="0" algn="ctr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400" b="0">
                    <a:solidFill>
                      <a:srgbClr val="CBD5E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Campo único de texto</a:t>
                </a:r>
                <a:endParaRPr sz="14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2" name="Google Shape;672;p51"/>
            <p:cNvGrpSpPr/>
            <p:nvPr/>
          </p:nvGrpSpPr>
          <p:grpSpPr>
            <a:xfrm>
              <a:off x="8953500" y="1333500"/>
              <a:ext cx="2476500" cy="1238400"/>
              <a:chOff x="8953500" y="1333500"/>
              <a:chExt cx="2476500" cy="1238400"/>
            </a:xfrm>
          </p:grpSpPr>
          <p:sp>
            <p:nvSpPr>
              <p:cNvPr id="673" name="Google Shape;673;p51"/>
              <p:cNvSpPr/>
              <p:nvPr/>
            </p:nvSpPr>
            <p:spPr>
              <a:xfrm>
                <a:off x="8953500" y="1333500"/>
                <a:ext cx="2476500" cy="1238400"/>
              </a:xfrm>
              <a:prstGeom prst="roundRect">
                <a:avLst>
                  <a:gd name="adj" fmla="val 9230"/>
                </a:avLst>
              </a:prstGeom>
              <a:solidFill>
                <a:srgbClr val="1E293B">
                  <a:alpha val="60000"/>
                </a:srgbClr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51"/>
              <p:cNvSpPr txBox="1"/>
              <p:nvPr/>
            </p:nvSpPr>
            <p:spPr>
              <a:xfrm>
                <a:off x="8953500" y="1333500"/>
                <a:ext cx="2476500" cy="12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 b="1">
                    <a:solidFill>
                      <a:srgbClr val="38BDF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Lista</a:t>
                </a:r>
                <a:endParaRPr sz="2800" b="1">
                  <a:solidFill>
                    <a:srgbClr val="38BDF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lvl="0" indent="0" algn="ctr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400" b="0">
                    <a:solidFill>
                      <a:srgbClr val="CBD5E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Vários itens ordenados</a:t>
                </a:r>
                <a:endParaRPr sz="14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5" name="Google Shape;675;p51"/>
            <p:cNvGrpSpPr/>
            <p:nvPr/>
          </p:nvGrpSpPr>
          <p:grpSpPr>
            <a:xfrm>
              <a:off x="6286500" y="2952750"/>
              <a:ext cx="2476500" cy="1238400"/>
              <a:chOff x="6286500" y="2952750"/>
              <a:chExt cx="2476500" cy="1238400"/>
            </a:xfrm>
          </p:grpSpPr>
          <p:sp>
            <p:nvSpPr>
              <p:cNvPr id="676" name="Google Shape;676;p51"/>
              <p:cNvSpPr/>
              <p:nvPr/>
            </p:nvSpPr>
            <p:spPr>
              <a:xfrm>
                <a:off x="6286500" y="2952750"/>
                <a:ext cx="2476500" cy="1238400"/>
              </a:xfrm>
              <a:prstGeom prst="roundRect">
                <a:avLst>
                  <a:gd name="adj" fmla="val 9230"/>
                </a:avLst>
              </a:prstGeom>
              <a:solidFill>
                <a:srgbClr val="1E293B">
                  <a:alpha val="60000"/>
                </a:srgbClr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Google Shape;677;p51"/>
              <p:cNvSpPr txBox="1"/>
              <p:nvPr/>
            </p:nvSpPr>
            <p:spPr>
              <a:xfrm>
                <a:off x="6286500" y="2952750"/>
                <a:ext cx="2476500" cy="12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 b="1">
                    <a:solidFill>
                      <a:srgbClr val="34D39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Índice</a:t>
                </a:r>
                <a:endParaRPr sz="2800" b="1">
                  <a:solidFill>
                    <a:srgbClr val="34D399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lvl="0" indent="0" algn="ctr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400" b="0">
                    <a:solidFill>
                      <a:srgbClr val="CBD5E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Posição no conjunto</a:t>
                </a:r>
                <a:endParaRPr sz="14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8" name="Google Shape;678;p51"/>
            <p:cNvGrpSpPr/>
            <p:nvPr/>
          </p:nvGrpSpPr>
          <p:grpSpPr>
            <a:xfrm>
              <a:off x="8953500" y="2952750"/>
              <a:ext cx="2476500" cy="1238400"/>
              <a:chOff x="8953500" y="2952750"/>
              <a:chExt cx="2476500" cy="1238400"/>
            </a:xfrm>
          </p:grpSpPr>
          <p:sp>
            <p:nvSpPr>
              <p:cNvPr id="679" name="Google Shape;679;p51"/>
              <p:cNvSpPr/>
              <p:nvPr/>
            </p:nvSpPr>
            <p:spPr>
              <a:xfrm>
                <a:off x="8953500" y="2952750"/>
                <a:ext cx="2476500" cy="1238400"/>
              </a:xfrm>
              <a:prstGeom prst="roundRect">
                <a:avLst>
                  <a:gd name="adj" fmla="val 9230"/>
                </a:avLst>
              </a:prstGeom>
              <a:solidFill>
                <a:srgbClr val="1E293B">
                  <a:alpha val="60000"/>
                </a:srgbClr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51"/>
              <p:cNvSpPr txBox="1"/>
              <p:nvPr/>
            </p:nvSpPr>
            <p:spPr>
              <a:xfrm>
                <a:off x="8953500" y="2952750"/>
                <a:ext cx="2476500" cy="12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 b="1">
                    <a:solidFill>
                      <a:srgbClr val="F8717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for</a:t>
                </a:r>
                <a:endParaRPr sz="2800" b="1">
                  <a:solidFill>
                    <a:srgbClr val="F8717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lvl="0" indent="0" algn="ctr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400" b="0">
                    <a:solidFill>
                      <a:srgbClr val="CBD5E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Percurso sequencial</a:t>
                </a:r>
                <a:endParaRPr sz="14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81" name="Google Shape;681;p51"/>
          <p:cNvGrpSpPr/>
          <p:nvPr/>
        </p:nvGrpSpPr>
        <p:grpSpPr>
          <a:xfrm>
            <a:off x="6281738" y="4567238"/>
            <a:ext cx="5148263" cy="1147763"/>
            <a:chOff x="6281738" y="4567238"/>
            <a:chExt cx="5148263" cy="1147763"/>
          </a:xfrm>
        </p:grpSpPr>
        <p:pic>
          <p:nvPicPr>
            <p:cNvPr id="682" name="Google Shape;682;p51" descr="A high-tech, minimalist 3D infographic showing a data flow path. On one side, a single glowing pulse representing a 'String', and on the other, a sequence of connected blocks representing a 'List'. The design uses neon blue, teal, and soft white accents on a transparent dark background, matching a software development theme."/>
            <p:cNvPicPr preferRelativeResize="0"/>
            <p:nvPr/>
          </p:nvPicPr>
          <p:blipFill rotWithShape="1">
            <a:blip r:embed="rId4">
              <a:alphaModFix/>
            </a:blip>
            <a:srcRect t="30245" b="30249"/>
            <a:stretch/>
          </p:blipFill>
          <p:spPr>
            <a:xfrm>
              <a:off x="6286500" y="4572000"/>
              <a:ext cx="5143500" cy="1143000"/>
            </a:xfrm>
            <a:prstGeom prst="roundRect">
              <a:avLst>
                <a:gd name="adj" fmla="val 10000"/>
              </a:avLst>
            </a:prstGeom>
            <a:noFill/>
            <a:ln>
              <a:noFill/>
            </a:ln>
          </p:spPr>
        </p:pic>
        <p:pic>
          <p:nvPicPr>
            <p:cNvPr id="683" name="Google Shape;683;p5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281738" y="4567238"/>
              <a:ext cx="2862300" cy="576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84" name="Google Shape;684;p51"/>
          <p:cNvSpPr txBox="1"/>
          <p:nvPr/>
        </p:nvSpPr>
        <p:spPr>
          <a:xfrm>
            <a:off x="365760" y="6492240"/>
            <a:ext cx="114300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9525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20/26</a:t>
            </a:r>
            <a:endParaRPr sz="1000" b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9" name="Google Shape;699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86538" y="0"/>
            <a:ext cx="1256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Google Shape;700;p53"/>
          <p:cNvSpPr txBox="1"/>
          <p:nvPr/>
        </p:nvSpPr>
        <p:spPr>
          <a:xfrm>
            <a:off x="457200" y="285750"/>
            <a:ext cx="11277600" cy="492600"/>
          </a:xfrm>
          <a:prstGeom prst="rect">
            <a:avLst/>
          </a:prstGeom>
          <a:solidFill>
            <a:srgbClr val="1E293B">
              <a:alpha val="85000"/>
            </a:srgb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50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Estudo de caso: lista de presença padronizada</a:t>
            </a:r>
            <a:endParaRPr sz="32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1" name="Google Shape;701;p53"/>
          <p:cNvGrpSpPr/>
          <p:nvPr/>
        </p:nvGrpSpPr>
        <p:grpSpPr>
          <a:xfrm>
            <a:off x="571500" y="1333500"/>
            <a:ext cx="5524500" cy="4572000"/>
            <a:chOff x="571500" y="1333500"/>
            <a:chExt cx="5524500" cy="4572000"/>
          </a:xfrm>
        </p:grpSpPr>
        <p:sp>
          <p:nvSpPr>
            <p:cNvPr id="702" name="Google Shape;702;p53"/>
            <p:cNvSpPr/>
            <p:nvPr/>
          </p:nvSpPr>
          <p:spPr>
            <a:xfrm>
              <a:off x="571500" y="1333500"/>
              <a:ext cx="5524500" cy="4572000"/>
            </a:xfrm>
            <a:prstGeom prst="roundRect">
              <a:avLst>
                <a:gd name="adj" fmla="val 3125"/>
              </a:avLst>
            </a:prstGeom>
            <a:solidFill>
              <a:srgbClr val="1E293B">
                <a:alpha val="85000"/>
              </a:srgbClr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53"/>
            <p:cNvSpPr txBox="1"/>
            <p:nvPr/>
          </p:nvSpPr>
          <p:spPr>
            <a:xfrm>
              <a:off x="762000" y="1524000"/>
              <a:ext cx="51435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>
                  <a:solidFill>
                    <a:srgbClr val="60A5FA"/>
                  </a:solidFill>
                  <a:latin typeface="Calibri"/>
                  <a:ea typeface="Calibri"/>
                  <a:cs typeface="Calibri"/>
                  <a:sym typeface="Calibri"/>
                </a:rPr>
                <a:t>Entrada desorganizada</a:t>
              </a:r>
              <a:endParaRPr sz="2200" b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Nomes chegam com espaços extras e mistura de maiúsculas/minúsculas.</a:t>
              </a:r>
              <a:endParaRPr sz="13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2200" b="1">
                  <a:solidFill>
                    <a:srgbClr val="34D399"/>
                  </a:solidFill>
                  <a:latin typeface="Calibri"/>
                  <a:ea typeface="Calibri"/>
                  <a:cs typeface="Calibri"/>
                  <a:sym typeface="Calibri"/>
                </a:rPr>
                <a:t>Objetivo funcional</a:t>
              </a:r>
              <a:endParaRPr sz="2200" b="1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Padronizar e verificar se um estudante está presente.</a:t>
              </a:r>
              <a:endParaRPr sz="13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2200" b="1">
                  <a:solidFill>
                    <a:srgbClr val="FACC15"/>
                  </a:solidFill>
                  <a:latin typeface="Calibri"/>
                  <a:ea typeface="Calibri"/>
                  <a:cs typeface="Calibri"/>
                  <a:sym typeface="Calibri"/>
                </a:rPr>
                <a:t>Estratégia</a:t>
              </a:r>
              <a:endParaRPr sz="2200" b="1">
                <a:solidFill>
                  <a:srgbClr val="FACC1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Usar string para tratar cada nome e lista para armazenar a turma processada.</a:t>
              </a:r>
              <a:endParaRPr sz="13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2200" b="1">
                  <a:solidFill>
                    <a:srgbClr val="F87171"/>
                  </a:solidFill>
                  <a:latin typeface="Calibri"/>
                  <a:ea typeface="Calibri"/>
                  <a:cs typeface="Calibri"/>
                  <a:sym typeface="Calibri"/>
                </a:rPr>
                <a:t>Resultado esperado</a:t>
              </a:r>
              <a:endParaRPr sz="2200" b="1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Coleção homogênea, legível e pronta para busca linear.</a:t>
              </a:r>
              <a:endParaRPr sz="13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4" name="Google Shape;704;p53"/>
          <p:cNvGrpSpPr/>
          <p:nvPr/>
        </p:nvGrpSpPr>
        <p:grpSpPr>
          <a:xfrm>
            <a:off x="6381750" y="1333500"/>
            <a:ext cx="5238900" cy="381000"/>
            <a:chOff x="6381750" y="1333500"/>
            <a:chExt cx="5238900" cy="381000"/>
          </a:xfrm>
        </p:grpSpPr>
        <p:sp>
          <p:nvSpPr>
            <p:cNvPr id="705" name="Google Shape;705;p53"/>
            <p:cNvSpPr/>
            <p:nvPr/>
          </p:nvSpPr>
          <p:spPr>
            <a:xfrm>
              <a:off x="6381750" y="1333500"/>
              <a:ext cx="5238900" cy="381000"/>
            </a:xfrm>
            <a:prstGeom prst="roundRect">
              <a:avLst>
                <a:gd name="adj" fmla="val 25000"/>
              </a:avLst>
            </a:prstGeom>
            <a:solidFill>
              <a:srgbClr val="2563EB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53"/>
            <p:cNvSpPr txBox="1"/>
            <p:nvPr/>
          </p:nvSpPr>
          <p:spPr>
            <a:xfrm>
              <a:off x="6381750" y="1333500"/>
              <a:ext cx="5238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Exemplo em Python</a:t>
              </a:r>
              <a:endPara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7" name="Google Shape;707;p53"/>
          <p:cNvGrpSpPr/>
          <p:nvPr/>
        </p:nvGrpSpPr>
        <p:grpSpPr>
          <a:xfrm>
            <a:off x="6381750" y="1809750"/>
            <a:ext cx="5238900" cy="3429000"/>
            <a:chOff x="6381750" y="1809750"/>
            <a:chExt cx="5238900" cy="3429000"/>
          </a:xfrm>
        </p:grpSpPr>
        <p:sp>
          <p:nvSpPr>
            <p:cNvPr id="708" name="Google Shape;708;p53"/>
            <p:cNvSpPr/>
            <p:nvPr/>
          </p:nvSpPr>
          <p:spPr>
            <a:xfrm>
              <a:off x="6381750" y="1809750"/>
              <a:ext cx="5238900" cy="3429000"/>
            </a:xfrm>
            <a:prstGeom prst="roundRect">
              <a:avLst>
                <a:gd name="adj" fmla="val 4166"/>
              </a:avLst>
            </a:prstGeom>
            <a:solidFill>
              <a:srgbClr val="1E293B">
                <a:alpha val="85000"/>
              </a:srgbClr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53"/>
            <p:cNvSpPr txBox="1"/>
            <p:nvPr/>
          </p:nvSpPr>
          <p:spPr>
            <a:xfrm>
              <a:off x="6572250" y="2000250"/>
              <a:ext cx="48579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presentes_bruto = [" maria ", "JOÃO", "ana clara"]</a:t>
              </a:r>
              <a:endParaRPr sz="140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presentes = []</a:t>
              </a:r>
              <a:endParaRPr sz="1400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for nome in presentes_bruto:</a:t>
              </a:r>
              <a:endParaRPr sz="1400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28575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presentes.append(nome.strip().title())</a:t>
              </a:r>
              <a:endParaRPr sz="1400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pic>
        <p:nvPicPr>
          <p:cNvPr id="710" name="Google Shape;710;p53" descr="A clean, 3D isometric infographic showing a funnel or pipeline where messy, unevenly spaced text strings enter one end and come out the other side neatly capitalized and perfectly aligned. Neon blue and green colors on a dark background."/>
          <p:cNvPicPr preferRelativeResize="0"/>
          <p:nvPr/>
        </p:nvPicPr>
        <p:blipFill rotWithShape="1">
          <a:blip r:embed="rId4">
            <a:alphaModFix/>
          </a:blip>
          <a:srcRect t="25755" b="25760"/>
          <a:stretch/>
        </p:blipFill>
        <p:spPr>
          <a:xfrm>
            <a:off x="6381750" y="5334000"/>
            <a:ext cx="5238900" cy="1428900"/>
          </a:xfrm>
          <a:prstGeom prst="roundRect">
            <a:avLst>
              <a:gd name="adj" fmla="val 6666"/>
            </a:avLst>
          </a:prstGeom>
          <a:noFill/>
          <a:ln>
            <a:noFill/>
          </a:ln>
        </p:spPr>
      </p:pic>
      <p:sp>
        <p:nvSpPr>
          <p:cNvPr id="711" name="Google Shape;711;p53"/>
          <p:cNvSpPr txBox="1"/>
          <p:nvPr/>
        </p:nvSpPr>
        <p:spPr>
          <a:xfrm>
            <a:off x="365760" y="6492240"/>
            <a:ext cx="114300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9525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21 / 26</a:t>
            </a:r>
            <a:endParaRPr sz="100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5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86538" y="0"/>
            <a:ext cx="1256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55"/>
          <p:cNvSpPr txBox="1"/>
          <p:nvPr/>
        </p:nvSpPr>
        <p:spPr>
          <a:xfrm>
            <a:off x="457200" y="285750"/>
            <a:ext cx="11277600" cy="492600"/>
          </a:xfrm>
          <a:prstGeom prst="rect">
            <a:avLst/>
          </a:prstGeom>
          <a:solidFill>
            <a:srgbClr val="1E293B">
              <a:alpha val="85000"/>
            </a:srgb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50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Análise guiada do estudo de caso</a:t>
            </a:r>
            <a:endParaRPr sz="32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0" name="Google Shape;740;p55"/>
          <p:cNvGrpSpPr/>
          <p:nvPr/>
        </p:nvGrpSpPr>
        <p:grpSpPr>
          <a:xfrm>
            <a:off x="476250" y="1238250"/>
            <a:ext cx="5524500" cy="4572000"/>
            <a:chOff x="476250" y="1238250"/>
            <a:chExt cx="5524500" cy="4572000"/>
          </a:xfrm>
        </p:grpSpPr>
        <p:sp>
          <p:nvSpPr>
            <p:cNvPr id="741" name="Google Shape;741;p55"/>
            <p:cNvSpPr/>
            <p:nvPr/>
          </p:nvSpPr>
          <p:spPr>
            <a:xfrm>
              <a:off x="476250" y="1238250"/>
              <a:ext cx="5524500" cy="4572000"/>
            </a:xfrm>
            <a:prstGeom prst="roundRect">
              <a:avLst>
                <a:gd name="adj" fmla="val 4166"/>
              </a:avLst>
            </a:prstGeom>
            <a:solidFill>
              <a:srgbClr val="1E293B">
                <a:alpha val="85000"/>
              </a:srgbClr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55"/>
            <p:cNvSpPr txBox="1"/>
            <p:nvPr/>
          </p:nvSpPr>
          <p:spPr>
            <a:xfrm>
              <a:off x="666750" y="1428750"/>
              <a:ext cx="51435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60A5FA"/>
                  </a:solidFill>
                  <a:latin typeface="Calibri"/>
                  <a:ea typeface="Calibri"/>
                  <a:cs typeface="Calibri"/>
                  <a:sym typeface="Calibri"/>
                </a:rPr>
                <a:t>Por que strip()?</a:t>
              </a:r>
              <a:endParaRPr sz="1400" b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Remove ruído de entrada sem alterar o conteúdo semântico do nome.</a:t>
              </a:r>
              <a:endParaRPr sz="11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34D399"/>
                  </a:solidFill>
                  <a:latin typeface="Calibri"/>
                  <a:ea typeface="Calibri"/>
                  <a:cs typeface="Calibri"/>
                  <a:sym typeface="Calibri"/>
                </a:rPr>
                <a:t>Por que title()?</a:t>
              </a:r>
              <a:endParaRPr sz="1400" b="1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Uniformiza apresentação para exibição e comparação simples.</a:t>
              </a:r>
              <a:endParaRPr sz="11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FACC15"/>
                  </a:solidFill>
                  <a:latin typeface="Calibri"/>
                  <a:ea typeface="Calibri"/>
                  <a:cs typeface="Calibri"/>
                  <a:sym typeface="Calibri"/>
                </a:rPr>
                <a:t>Por que lista de strings?</a:t>
              </a:r>
              <a:endParaRPr sz="1400" b="1">
                <a:solidFill>
                  <a:srgbClr val="FACC1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Cada nome é textual; o conjunto precisa de ordem e percurso.</a:t>
              </a:r>
              <a:endParaRPr sz="11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F87171"/>
                  </a:solidFill>
                  <a:latin typeface="Calibri"/>
                  <a:ea typeface="Calibri"/>
                  <a:cs typeface="Calibri"/>
                  <a:sym typeface="Calibri"/>
                </a:rPr>
                <a:t>Por que busca linear?</a:t>
              </a:r>
              <a:endParaRPr sz="1400" b="1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O volume é pequeno e a legibilidade é prioritária no contexto introdutório.</a:t>
              </a:r>
              <a:endParaRPr sz="11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43" name="Google Shape;743;p55"/>
          <p:cNvSpPr/>
          <p:nvPr/>
        </p:nvSpPr>
        <p:spPr>
          <a:xfrm>
            <a:off x="6191250" y="1238250"/>
            <a:ext cx="5524500" cy="4572000"/>
          </a:xfrm>
          <a:prstGeom prst="roundRect">
            <a:avLst>
              <a:gd name="adj" fmla="val 4166"/>
            </a:avLst>
          </a:prstGeom>
          <a:solidFill>
            <a:srgbClr val="1E293B">
              <a:alpha val="85000"/>
            </a:srgbClr>
          </a:solidFill>
          <a:ln w="143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55"/>
          <p:cNvSpPr/>
          <p:nvPr/>
        </p:nvSpPr>
        <p:spPr>
          <a:xfrm>
            <a:off x="6477000" y="1428750"/>
            <a:ext cx="4953000" cy="666900"/>
          </a:xfrm>
          <a:prstGeom prst="roundRect">
            <a:avLst>
              <a:gd name="adj" fmla="val 21428"/>
            </a:avLst>
          </a:prstGeom>
          <a:solidFill>
            <a:srgbClr val="0F172A">
              <a:alpha val="60000"/>
            </a:srgbClr>
          </a:solidFill>
          <a:ln w="9525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Fluxograma: busca com for</a:t>
            </a:r>
            <a:endParaRPr sz="1800" b="1">
              <a:solidFill>
                <a:srgbClr val="34D3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Fluxo da busca linear em uma coleção pequena.</a:t>
            </a:r>
            <a:endParaRPr sz="1100" b="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55"/>
          <p:cNvSpPr/>
          <p:nvPr/>
        </p:nvSpPr>
        <p:spPr>
          <a:xfrm>
            <a:off x="8286750" y="2238375"/>
            <a:ext cx="1333500" cy="4287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 cap="flat" cmpd="sng">
            <a:solidFill>
              <a:srgbClr val="60A5F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Início</a:t>
            </a:r>
            <a:endParaRPr sz="12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55"/>
          <p:cNvSpPr/>
          <p:nvPr/>
        </p:nvSpPr>
        <p:spPr>
          <a:xfrm>
            <a:off x="8001000" y="2857500"/>
            <a:ext cx="1905000" cy="476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 cap="flat" cmpd="sng">
            <a:solidFill>
              <a:srgbClr val="60A5F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Ler item atual</a:t>
            </a:r>
            <a:endParaRPr sz="11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55"/>
          <p:cNvSpPr/>
          <p:nvPr/>
        </p:nvSpPr>
        <p:spPr>
          <a:xfrm>
            <a:off x="6858000" y="4524375"/>
            <a:ext cx="1714500" cy="476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Retorna True</a:t>
            </a:r>
            <a:endParaRPr sz="1100" b="1">
              <a:solidFill>
                <a:srgbClr val="34D3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55"/>
          <p:cNvSpPr/>
          <p:nvPr/>
        </p:nvSpPr>
        <p:spPr>
          <a:xfrm>
            <a:off x="9334500" y="4524375"/>
            <a:ext cx="1714500" cy="476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 cap="flat" cmpd="sng">
            <a:solidFill>
              <a:srgbClr val="F8717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Próximo item</a:t>
            </a:r>
            <a:endParaRPr sz="1100" b="1">
              <a:solidFill>
                <a:srgbClr val="F8717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55"/>
          <p:cNvSpPr/>
          <p:nvPr/>
        </p:nvSpPr>
        <p:spPr>
          <a:xfrm>
            <a:off x="7905750" y="5238750"/>
            <a:ext cx="2095500" cy="4764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 cap="flat" cmpd="sng">
            <a:solidFill>
              <a:srgbClr val="60A5F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Fim da lista → False</a:t>
            </a:r>
            <a:endParaRPr sz="11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0" name="Google Shape;750;p55"/>
          <p:cNvCxnSpPr/>
          <p:nvPr/>
        </p:nvCxnSpPr>
        <p:spPr>
          <a:xfrm>
            <a:off x="8953500" y="2667000"/>
            <a:ext cx="0" cy="190500"/>
          </a:xfrm>
          <a:prstGeom prst="straightConnector1">
            <a:avLst/>
          </a:prstGeom>
          <a:solidFill>
            <a:srgbClr val="FFFFFF"/>
          </a:solidFill>
          <a:ln w="1905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751" name="Google Shape;751;p55"/>
          <p:cNvCxnSpPr/>
          <p:nvPr/>
        </p:nvCxnSpPr>
        <p:spPr>
          <a:xfrm>
            <a:off x="8953500" y="3333750"/>
            <a:ext cx="0" cy="190500"/>
          </a:xfrm>
          <a:prstGeom prst="straightConnector1">
            <a:avLst/>
          </a:prstGeom>
          <a:solidFill>
            <a:srgbClr val="FFFFFF"/>
          </a:solidFill>
          <a:ln w="1905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752" name="Google Shape;752;p55"/>
          <p:cNvCxnSpPr/>
          <p:nvPr/>
        </p:nvCxnSpPr>
        <p:spPr>
          <a:xfrm>
            <a:off x="10241280" y="5120640"/>
            <a:ext cx="0" cy="365700"/>
          </a:xfrm>
          <a:prstGeom prst="straightConnector1">
            <a:avLst/>
          </a:prstGeom>
          <a:noFill/>
          <a:ln w="2540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753" name="Google Shape;753;p55"/>
          <p:cNvCxnSpPr/>
          <p:nvPr/>
        </p:nvCxnSpPr>
        <p:spPr>
          <a:xfrm flipH="1">
            <a:off x="7715250" y="4191000"/>
            <a:ext cx="571500" cy="333300"/>
          </a:xfrm>
          <a:prstGeom prst="straightConnector1">
            <a:avLst/>
          </a:prstGeom>
          <a:solidFill>
            <a:srgbClr val="FFFFFF"/>
          </a:solidFill>
          <a:ln w="1905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754" name="Google Shape;754;p55"/>
          <p:cNvCxnSpPr/>
          <p:nvPr/>
        </p:nvCxnSpPr>
        <p:spPr>
          <a:xfrm>
            <a:off x="9620250" y="4191000"/>
            <a:ext cx="571500" cy="333300"/>
          </a:xfrm>
          <a:prstGeom prst="straightConnector1">
            <a:avLst/>
          </a:prstGeom>
          <a:solidFill>
            <a:srgbClr val="FFFFFF"/>
          </a:solidFill>
          <a:ln w="19050" cap="flat" cmpd="sng">
            <a:solidFill>
              <a:srgbClr val="F8717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755" name="Google Shape;755;p55"/>
          <p:cNvSpPr txBox="1"/>
          <p:nvPr/>
        </p:nvSpPr>
        <p:spPr>
          <a:xfrm>
            <a:off x="7620000" y="4238625"/>
            <a:ext cx="5715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Sim</a:t>
            </a:r>
            <a:endParaRPr sz="1000" b="1">
              <a:solidFill>
                <a:srgbClr val="34D3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55"/>
          <p:cNvSpPr txBox="1"/>
          <p:nvPr/>
        </p:nvSpPr>
        <p:spPr>
          <a:xfrm>
            <a:off x="9810750" y="4238625"/>
            <a:ext cx="5715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endParaRPr sz="1000" b="1">
              <a:solidFill>
                <a:srgbClr val="F8717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55"/>
          <p:cNvSpPr txBox="1"/>
          <p:nvPr/>
        </p:nvSpPr>
        <p:spPr>
          <a:xfrm>
            <a:off x="10477500" y="6477000"/>
            <a:ext cx="13335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22 / 26</a:t>
            </a:r>
            <a:endParaRPr sz="1200" b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55"/>
          <p:cNvSpPr/>
          <p:nvPr/>
        </p:nvSpPr>
        <p:spPr>
          <a:xfrm>
            <a:off x="8286750" y="3524250"/>
            <a:ext cx="1333500" cy="1185575"/>
          </a:xfrm>
          <a:prstGeom prst="flowChartDecision">
            <a:avLst/>
          </a:prstGeom>
          <a:solidFill>
            <a:srgbClr val="1E293B"/>
          </a:solidFill>
          <a:ln w="9525" cap="flat" cmpd="sng">
            <a:solidFill>
              <a:srgbClr val="60A5F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75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item </a:t>
            </a: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==</a:t>
            </a:r>
            <a:r>
              <a:rPr lang="en-US" sz="1075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procurado?</a:t>
            </a:r>
            <a:endParaRPr sz="1075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5" name="Google Shape;775;p5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86538" y="0"/>
            <a:ext cx="12564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6" name="Google Shape;776;p57"/>
          <p:cNvPicPr preferRelativeResize="0"/>
          <p:nvPr/>
        </p:nvPicPr>
        <p:blipFill rotWithShape="1">
          <a:blip r:embed="rId4">
            <a:alphaModFix/>
          </a:blip>
          <a:srcRect l="1485" r="1475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57"/>
          <p:cNvSpPr/>
          <p:nvPr/>
        </p:nvSpPr>
        <p:spPr>
          <a:xfrm>
            <a:off x="457200" y="285750"/>
            <a:ext cx="11277600" cy="762000"/>
          </a:xfrm>
          <a:prstGeom prst="roundRect">
            <a:avLst>
              <a:gd name="adj" fmla="val 15000"/>
            </a:avLst>
          </a:prstGeom>
          <a:solidFill>
            <a:srgbClr val="0F172A">
              <a:alpha val="85000"/>
            </a:srgbClr>
          </a:solidFill>
          <a:ln w="143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57"/>
          <p:cNvSpPr txBox="1"/>
          <p:nvPr/>
        </p:nvSpPr>
        <p:spPr>
          <a:xfrm>
            <a:off x="457200" y="285750"/>
            <a:ext cx="110643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19050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Síntese dos principais aprendizados</a:t>
            </a:r>
            <a:endParaRPr sz="3200" b="1" i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9" name="Google Shape;779;p57"/>
          <p:cNvGrpSpPr/>
          <p:nvPr/>
        </p:nvGrpSpPr>
        <p:grpSpPr>
          <a:xfrm>
            <a:off x="571500" y="1333500"/>
            <a:ext cx="5334000" cy="4000500"/>
            <a:chOff x="571500" y="1333500"/>
            <a:chExt cx="5334000" cy="4000500"/>
          </a:xfrm>
        </p:grpSpPr>
        <p:sp>
          <p:nvSpPr>
            <p:cNvPr id="780" name="Google Shape;780;p57"/>
            <p:cNvSpPr/>
            <p:nvPr/>
          </p:nvSpPr>
          <p:spPr>
            <a:xfrm>
              <a:off x="571500" y="1333500"/>
              <a:ext cx="5334000" cy="4000500"/>
            </a:xfrm>
            <a:prstGeom prst="roundRect">
              <a:avLst>
                <a:gd name="adj" fmla="val 4761"/>
              </a:avLst>
            </a:prstGeom>
            <a:solidFill>
              <a:srgbClr val="1E293B">
                <a:alpha val="85000"/>
              </a:srgbClr>
            </a:solidFill>
            <a:ln w="143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57"/>
            <p:cNvSpPr txBox="1"/>
            <p:nvPr/>
          </p:nvSpPr>
          <p:spPr>
            <a:xfrm>
              <a:off x="762000" y="1524000"/>
              <a:ext cx="49530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60A5FA"/>
                  </a:solidFill>
                  <a:latin typeface="Calibri"/>
                  <a:ea typeface="Calibri"/>
                  <a:cs typeface="Calibri"/>
                  <a:sym typeface="Calibri"/>
                </a:rPr>
                <a:t>Strings</a:t>
              </a:r>
              <a:endParaRPr sz="2000" b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→ Processamento de texto e padronização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38BDF8"/>
                  </a:solidFill>
                  <a:latin typeface="Calibri"/>
                  <a:ea typeface="Calibri"/>
                  <a:cs typeface="Calibri"/>
                  <a:sym typeface="Calibri"/>
                </a:rPr>
                <a:t>Listas</a:t>
              </a:r>
              <a:endParaRPr sz="2000" b="1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→ Coleções dinâmicas e ordenadas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34D399"/>
                  </a:solidFill>
                  <a:latin typeface="Calibri"/>
                  <a:ea typeface="Calibri"/>
                  <a:cs typeface="Calibri"/>
                  <a:sym typeface="Calibri"/>
                </a:rPr>
                <a:t>Loops (for)</a:t>
              </a:r>
              <a:endParaRPr sz="2000" b="1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→ Automação e percurso de dados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F87171"/>
                  </a:solidFill>
                  <a:latin typeface="Calibri"/>
                  <a:ea typeface="Calibri"/>
                  <a:cs typeface="Calibri"/>
                  <a:sym typeface="Calibri"/>
                </a:rPr>
                <a:t>Modelagem</a:t>
              </a:r>
              <a:endParaRPr sz="2000" b="1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→ Estrutura lógica para redução de erros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2" name="Google Shape;782;p57"/>
          <p:cNvSpPr/>
          <p:nvPr/>
        </p:nvSpPr>
        <p:spPr>
          <a:xfrm>
            <a:off x="6191250" y="1333500"/>
            <a:ext cx="5524500" cy="4000500"/>
          </a:xfrm>
          <a:prstGeom prst="roundRect">
            <a:avLst>
              <a:gd name="adj" fmla="val 4761"/>
            </a:avLst>
          </a:prstGeom>
          <a:solidFill>
            <a:srgbClr val="1E293B">
              <a:alpha val="85000"/>
            </a:srgbClr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3" name="Google Shape;783;p57"/>
          <p:cNvSpPr/>
          <p:nvPr/>
        </p:nvSpPr>
        <p:spPr>
          <a:xfrm>
            <a:off x="6477000" y="1619250"/>
            <a:ext cx="2381400" cy="1143000"/>
          </a:xfrm>
          <a:prstGeom prst="roundRect">
            <a:avLst>
              <a:gd name="adj" fmla="val 12500"/>
            </a:avLst>
          </a:prstGeom>
          <a:solidFill>
            <a:srgbClr val="1E293B">
              <a:alpha val="60000"/>
            </a:srgbClr>
          </a:solidFill>
          <a:ln w="143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String</a:t>
            </a:r>
            <a:endParaRPr sz="2400" b="1">
              <a:solidFill>
                <a:srgbClr val="60A5F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Campo único de texto</a:t>
            </a:r>
            <a:endParaRPr sz="1400" b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57"/>
          <p:cNvSpPr/>
          <p:nvPr/>
        </p:nvSpPr>
        <p:spPr>
          <a:xfrm>
            <a:off x="9048750" y="1619250"/>
            <a:ext cx="2381400" cy="1143000"/>
          </a:xfrm>
          <a:prstGeom prst="roundRect">
            <a:avLst>
              <a:gd name="adj" fmla="val 12500"/>
            </a:avLst>
          </a:prstGeom>
          <a:solidFill>
            <a:srgbClr val="1E293B">
              <a:alpha val="60000"/>
            </a:srgbClr>
          </a:solidFill>
          <a:ln w="143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Lista</a:t>
            </a:r>
            <a:endParaRPr sz="2400" b="1">
              <a:solidFill>
                <a:srgbClr val="38BDF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Vários itens ordenados</a:t>
            </a:r>
            <a:endParaRPr sz="1400" b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57"/>
          <p:cNvSpPr/>
          <p:nvPr/>
        </p:nvSpPr>
        <p:spPr>
          <a:xfrm>
            <a:off x="6477000" y="2952750"/>
            <a:ext cx="2381400" cy="1143000"/>
          </a:xfrm>
          <a:prstGeom prst="roundRect">
            <a:avLst>
              <a:gd name="adj" fmla="val 12500"/>
            </a:avLst>
          </a:prstGeom>
          <a:solidFill>
            <a:srgbClr val="1E293B">
              <a:alpha val="60000"/>
            </a:srgbClr>
          </a:solidFill>
          <a:ln w="143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Índice</a:t>
            </a:r>
            <a:endParaRPr sz="2400" b="1">
              <a:solidFill>
                <a:srgbClr val="34D3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Posição no conjunto</a:t>
            </a:r>
            <a:endParaRPr sz="1400" b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57"/>
          <p:cNvSpPr/>
          <p:nvPr/>
        </p:nvSpPr>
        <p:spPr>
          <a:xfrm>
            <a:off x="9048750" y="2952750"/>
            <a:ext cx="2381400" cy="1143000"/>
          </a:xfrm>
          <a:prstGeom prst="roundRect">
            <a:avLst>
              <a:gd name="adj" fmla="val 12500"/>
            </a:avLst>
          </a:prstGeom>
          <a:solidFill>
            <a:srgbClr val="1E293B">
              <a:alpha val="60000"/>
            </a:srgbClr>
          </a:solidFill>
          <a:ln w="143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endParaRPr sz="2400" b="1">
              <a:solidFill>
                <a:srgbClr val="F8717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Percurso sequencial</a:t>
            </a:r>
            <a:endParaRPr sz="1400" b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57"/>
          <p:cNvSpPr txBox="1"/>
          <p:nvPr/>
        </p:nvSpPr>
        <p:spPr>
          <a:xfrm>
            <a:off x="6191250" y="4191000"/>
            <a:ext cx="5524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1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Conceitos fundamentais aplicados à prática laboratorial.</a:t>
            </a:r>
            <a:endParaRPr sz="1600" b="0" i="1">
              <a:solidFill>
                <a:srgbClr val="F1F5F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57"/>
          <p:cNvSpPr txBox="1"/>
          <p:nvPr/>
        </p:nvSpPr>
        <p:spPr>
          <a:xfrm>
            <a:off x="365760" y="6477000"/>
            <a:ext cx="114300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9050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23/26</a:t>
            </a:r>
            <a:endParaRPr sz="1200" b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" name="Google Shape;808;p59"/>
          <p:cNvPicPr preferRelativeResize="0"/>
          <p:nvPr/>
        </p:nvPicPr>
        <p:blipFill rotWithShape="1">
          <a:blip r:embed="rId3">
            <a:alphaModFix/>
          </a:blip>
          <a:srcRect l="1485" r="1475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5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>
              <a:alpha val="6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59"/>
          <p:cNvSpPr txBox="1"/>
          <p:nvPr/>
        </p:nvSpPr>
        <p:spPr>
          <a:xfrm>
            <a:off x="457200" y="320040"/>
            <a:ext cx="11064300" cy="5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Erros recorrentes e prevenção</a:t>
            </a:r>
            <a:endParaRPr sz="3600" b="1">
              <a:solidFill>
                <a:srgbClr val="F8FA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11" name="Google Shape;811;p59"/>
          <p:cNvGrpSpPr/>
          <p:nvPr/>
        </p:nvGrpSpPr>
        <p:grpSpPr>
          <a:xfrm>
            <a:off x="571500" y="1333500"/>
            <a:ext cx="5524500" cy="4572000"/>
            <a:chOff x="571500" y="1333500"/>
            <a:chExt cx="5524500" cy="4572000"/>
          </a:xfrm>
        </p:grpSpPr>
        <p:sp>
          <p:nvSpPr>
            <p:cNvPr id="812" name="Google Shape;812;p59"/>
            <p:cNvSpPr/>
            <p:nvPr/>
          </p:nvSpPr>
          <p:spPr>
            <a:xfrm>
              <a:off x="571500" y="1333500"/>
              <a:ext cx="5524500" cy="4572000"/>
            </a:xfrm>
            <a:prstGeom prst="roundRect">
              <a:avLst>
                <a:gd name="adj" fmla="val 4166"/>
              </a:avLst>
            </a:prstGeom>
            <a:solidFill>
              <a:srgbClr val="1E293B">
                <a:alpha val="80000"/>
              </a:srgbClr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59"/>
            <p:cNvSpPr txBox="1"/>
            <p:nvPr/>
          </p:nvSpPr>
          <p:spPr>
            <a:xfrm>
              <a:off x="762000" y="1524000"/>
              <a:ext cx="51435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60A5FA"/>
                  </a:solidFill>
                  <a:latin typeface="Calibri"/>
                  <a:ea typeface="Calibri"/>
                  <a:cs typeface="Calibri"/>
                  <a:sym typeface="Calibri"/>
                </a:rPr>
                <a:t>Erro de limite</a:t>
              </a:r>
              <a:endParaRPr sz="1800" b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Sempre confronte índice e tamanho da coleção.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34D399"/>
                  </a:solidFill>
                  <a:latin typeface="Calibri"/>
                  <a:ea typeface="Calibri"/>
                  <a:cs typeface="Calibri"/>
                  <a:sym typeface="Calibri"/>
                </a:rPr>
                <a:t>Erro de modelagem</a:t>
              </a:r>
              <a:endParaRPr sz="1800" b="1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Evite usar uma string longa quando o programa precisa de lista.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87171"/>
                  </a:solidFill>
                  <a:latin typeface="Calibri"/>
                  <a:ea typeface="Calibri"/>
                  <a:cs typeface="Calibri"/>
                  <a:sym typeface="Calibri"/>
                </a:rPr>
                <a:t>Erro de mutação</a:t>
              </a:r>
              <a:endParaRPr sz="1800" b="1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Não altere a coleção no mesmo percurso sem estratégia explícita.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ACC15"/>
                  </a:solidFill>
                  <a:latin typeface="Calibri"/>
                  <a:ea typeface="Calibri"/>
                  <a:cs typeface="Calibri"/>
                  <a:sym typeface="Calibri"/>
                </a:rPr>
                <a:t>Erro de leitura</a:t>
              </a:r>
              <a:endParaRPr sz="1800" b="1">
                <a:solidFill>
                  <a:srgbClr val="FACC1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Use nomes de variáveis claros para separar item, índice e lista.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14" name="Google Shape;814;p59"/>
          <p:cNvSpPr/>
          <p:nvPr/>
        </p:nvSpPr>
        <p:spPr>
          <a:xfrm>
            <a:off x="6286500" y="1333500"/>
            <a:ext cx="5334000" cy="762000"/>
          </a:xfrm>
          <a:prstGeom prst="roundRect">
            <a:avLst>
              <a:gd name="adj" fmla="val 18750"/>
            </a:avLst>
          </a:prstGeom>
          <a:solidFill>
            <a:srgbClr val="1E293B">
              <a:alpha val="85000"/>
            </a:srgbClr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Fluxo de modelagem inicial</a:t>
            </a:r>
            <a:endParaRPr sz="2000" b="1">
              <a:solidFill>
                <a:srgbClr val="F8FA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Sequência de etapas para resolver o problema.</a:t>
            </a:r>
            <a:endParaRPr sz="1200" b="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59"/>
          <p:cNvSpPr/>
          <p:nvPr/>
        </p:nvSpPr>
        <p:spPr>
          <a:xfrm>
            <a:off x="6286500" y="2286000"/>
            <a:ext cx="2524200" cy="714300"/>
          </a:xfrm>
          <a:prstGeom prst="roundRect">
            <a:avLst>
              <a:gd name="adj" fmla="val 16000"/>
            </a:avLst>
          </a:prstGeom>
          <a:solidFill>
            <a:srgbClr val="1E293B">
              <a:alpha val="90000"/>
            </a:srgbClr>
          </a:solidFill>
          <a:ln w="143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1. Coletar entradas</a:t>
            </a:r>
            <a:endParaRPr sz="1500" b="1">
              <a:solidFill>
                <a:srgbClr val="60A5F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59"/>
          <p:cNvSpPr/>
          <p:nvPr/>
        </p:nvSpPr>
        <p:spPr>
          <a:xfrm>
            <a:off x="9096375" y="2286000"/>
            <a:ext cx="2524200" cy="714300"/>
          </a:xfrm>
          <a:prstGeom prst="roundRect">
            <a:avLst>
              <a:gd name="adj" fmla="val 16000"/>
            </a:avLst>
          </a:prstGeom>
          <a:solidFill>
            <a:srgbClr val="1E293B">
              <a:alpha val="90000"/>
            </a:srgbClr>
          </a:solidFill>
          <a:ln w="143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2. Padronizar texto</a:t>
            </a:r>
            <a:endParaRPr sz="1500" b="1">
              <a:solidFill>
                <a:srgbClr val="38BDF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59"/>
          <p:cNvSpPr/>
          <p:nvPr/>
        </p:nvSpPr>
        <p:spPr>
          <a:xfrm>
            <a:off x="6286500" y="3238500"/>
            <a:ext cx="2524200" cy="714300"/>
          </a:xfrm>
          <a:prstGeom prst="roundRect">
            <a:avLst>
              <a:gd name="adj" fmla="val 16000"/>
            </a:avLst>
          </a:prstGeom>
          <a:solidFill>
            <a:srgbClr val="1E293B">
              <a:alpha val="90000"/>
            </a:srgbClr>
          </a:solidFill>
          <a:ln w="143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3. Armazenar em lista</a:t>
            </a:r>
            <a:endParaRPr sz="1500" b="1">
              <a:solidFill>
                <a:srgbClr val="60A5F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59"/>
          <p:cNvSpPr/>
          <p:nvPr/>
        </p:nvSpPr>
        <p:spPr>
          <a:xfrm>
            <a:off x="9096375" y="3238500"/>
            <a:ext cx="2524200" cy="714300"/>
          </a:xfrm>
          <a:prstGeom prst="roundRect">
            <a:avLst>
              <a:gd name="adj" fmla="val 16000"/>
            </a:avLst>
          </a:prstGeom>
          <a:solidFill>
            <a:srgbClr val="1E293B">
              <a:alpha val="90000"/>
            </a:srgbClr>
          </a:solidFill>
          <a:ln w="143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4. Percorrer</a:t>
            </a:r>
            <a:endParaRPr sz="1500" b="1">
              <a:solidFill>
                <a:srgbClr val="38BDF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59"/>
          <p:cNvSpPr/>
          <p:nvPr/>
        </p:nvSpPr>
        <p:spPr>
          <a:xfrm>
            <a:off x="6286500" y="4191000"/>
            <a:ext cx="2524200" cy="714300"/>
          </a:xfrm>
          <a:prstGeom prst="roundRect">
            <a:avLst>
              <a:gd name="adj" fmla="val 16000"/>
            </a:avLst>
          </a:prstGeom>
          <a:solidFill>
            <a:srgbClr val="1E293B">
              <a:alpha val="90000"/>
            </a:srgbClr>
          </a:solidFill>
          <a:ln w="143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5. Buscar/filtrar</a:t>
            </a:r>
            <a:endParaRPr sz="1500" b="1">
              <a:solidFill>
                <a:srgbClr val="60A5F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59"/>
          <p:cNvSpPr/>
          <p:nvPr/>
        </p:nvSpPr>
        <p:spPr>
          <a:xfrm>
            <a:off x="9096375" y="4191000"/>
            <a:ext cx="2524200" cy="714300"/>
          </a:xfrm>
          <a:prstGeom prst="roundRect">
            <a:avLst>
              <a:gd name="adj" fmla="val 16000"/>
            </a:avLst>
          </a:prstGeom>
          <a:solidFill>
            <a:srgbClr val="1E293B">
              <a:alpha val="90000"/>
            </a:srgbClr>
          </a:solidFill>
          <a:ln w="143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6. Exibir resultado</a:t>
            </a:r>
            <a:endParaRPr sz="1500" b="1">
              <a:solidFill>
                <a:srgbClr val="38BDF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59"/>
          <p:cNvSpPr txBox="1"/>
          <p:nvPr/>
        </p:nvSpPr>
        <p:spPr>
          <a:xfrm>
            <a:off x="6286500" y="5000625"/>
            <a:ext cx="5334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Siga este roteiro para evitar os erros comuns detalhados à esquerda.</a:t>
            </a:r>
            <a:endParaRPr sz="1100" b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59"/>
          <p:cNvSpPr txBox="1"/>
          <p:nvPr/>
        </p:nvSpPr>
        <p:spPr>
          <a:xfrm>
            <a:off x="365760" y="6492240"/>
            <a:ext cx="114300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9050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24/26</a:t>
            </a:r>
            <a:endParaRPr sz="1000" b="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5" name="Google Shape;835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86538" y="0"/>
            <a:ext cx="1256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61"/>
          <p:cNvSpPr txBox="1"/>
          <p:nvPr/>
        </p:nvSpPr>
        <p:spPr>
          <a:xfrm>
            <a:off x="457200" y="285750"/>
            <a:ext cx="11064300" cy="5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Pergunta reflexiva final</a:t>
            </a:r>
            <a:endParaRPr sz="3600" b="1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61"/>
          <p:cNvSpPr txBox="1"/>
          <p:nvPr/>
        </p:nvSpPr>
        <p:spPr>
          <a:xfrm>
            <a:off x="365760" y="6477000"/>
            <a:ext cx="114300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9050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25 / 26</a:t>
            </a:r>
            <a:endParaRPr sz="1200" b="0" i="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38" name="Google Shape;838;p61"/>
          <p:cNvGrpSpPr/>
          <p:nvPr/>
        </p:nvGrpSpPr>
        <p:grpSpPr>
          <a:xfrm>
            <a:off x="6286500" y="1238250"/>
            <a:ext cx="5334000" cy="4381500"/>
            <a:chOff x="6286500" y="1238250"/>
            <a:chExt cx="5334000" cy="4381500"/>
          </a:xfrm>
        </p:grpSpPr>
        <p:sp>
          <p:nvSpPr>
            <p:cNvPr id="839" name="Google Shape;839;p61"/>
            <p:cNvSpPr/>
            <p:nvPr/>
          </p:nvSpPr>
          <p:spPr>
            <a:xfrm>
              <a:off x="6286500" y="1238250"/>
              <a:ext cx="5334000" cy="4381500"/>
            </a:xfrm>
            <a:prstGeom prst="roundRect">
              <a:avLst>
                <a:gd name="adj" fmla="val 3260"/>
              </a:avLst>
            </a:prstGeom>
            <a:solidFill>
              <a:srgbClr val="1E293B">
                <a:alpha val="85000"/>
              </a:srgbClr>
            </a:solidFill>
            <a:ln w="143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61"/>
            <p:cNvSpPr txBox="1"/>
            <p:nvPr/>
          </p:nvSpPr>
          <p:spPr>
            <a:xfrm>
              <a:off x="6286500" y="1238250"/>
              <a:ext cx="5334000" cy="438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85750" tIns="285750" rIns="285750" bIns="285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60A5FA"/>
                  </a:solidFill>
                  <a:latin typeface="Calibri"/>
                  <a:ea typeface="Calibri"/>
                  <a:cs typeface="Calibri"/>
                  <a:sym typeface="Calibri"/>
                </a:rPr>
                <a:t>Reflexão</a:t>
              </a:r>
              <a:endParaRPr sz="2000" b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O que muda no desenho do algoritmo quando você troca uma string por uma lista?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34D399"/>
                  </a:solidFill>
                  <a:latin typeface="Calibri"/>
                  <a:ea typeface="Calibri"/>
                  <a:cs typeface="Calibri"/>
                  <a:sym typeface="Calibri"/>
                </a:rPr>
                <a:t>Integração conceitual</a:t>
              </a:r>
              <a:endParaRPr sz="2000" b="1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Pense em operações possíveis, clareza da solução e manutenção do código.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FACC15"/>
                  </a:solidFill>
                  <a:latin typeface="Calibri"/>
                  <a:ea typeface="Calibri"/>
                  <a:cs typeface="Calibri"/>
                  <a:sym typeface="Calibri"/>
                </a:rPr>
                <a:t>Transferência</a:t>
              </a:r>
              <a:endParaRPr sz="2000" b="1">
                <a:solidFill>
                  <a:srgbClr val="FACC1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A mesma decisão aparecerá em dicionários, arquivos e estruturas de dados futuras.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F87171"/>
                  </a:solidFill>
                  <a:latin typeface="Calibri"/>
                  <a:ea typeface="Calibri"/>
                  <a:cs typeface="Calibri"/>
                  <a:sym typeface="Calibri"/>
                </a:rPr>
                <a:t>Fechamento</a:t>
              </a:r>
              <a:endParaRPr sz="2000" b="1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Teoria forte agora facilita a experimentação no laboratório.</a:t>
              </a:r>
              <a:endParaRPr sz="1300" b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841" name="Google Shape;841;p61"/>
          <p:cNvGraphicFramePr/>
          <p:nvPr/>
        </p:nvGraphicFramePr>
        <p:xfrm>
          <a:off x="623735" y="1360440"/>
          <a:ext cx="5303550" cy="3474750"/>
        </p:xfrm>
        <a:graphic>
          <a:graphicData uri="http://schemas.openxmlformats.org/drawingml/2006/table">
            <a:tbl>
              <a:tblPr firstRow="1" bandRow="1">
                <a:noFill/>
                <a:tableStyleId>{ED642883-BA0C-44AA-9594-52904E38D95D}</a:tableStyleId>
              </a:tblPr>
              <a:tblGrid>
                <a:gridCol w="1767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4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</a:rPr>
                        <a:t>Critério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</a:rPr>
                        <a:t>String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</a:rPr>
                        <a:t>Lista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1F2937"/>
                          </a:solidFill>
                        </a:rPr>
                        <a:t>Conteúdo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1F2937"/>
                          </a:solidFill>
                        </a:rPr>
                        <a:t>Texto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1F2937"/>
                          </a:solidFill>
                        </a:rPr>
                        <a:t>Objetos em sequência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1F2937"/>
                          </a:solidFill>
                        </a:rPr>
                        <a:t>Mutabilidade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1F2937"/>
                          </a:solidFill>
                        </a:rPr>
                        <a:t>Trabalha com nova string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1F2937"/>
                          </a:solidFill>
                        </a:rPr>
                        <a:t>Altera a própria coleção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1F2937"/>
                          </a:solidFill>
                        </a:rPr>
                        <a:t>Uso típico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1F2937"/>
                          </a:solidFill>
                        </a:rPr>
                        <a:t>Mensagens, nomes, códigos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1F2937"/>
                          </a:solidFill>
                        </a:rPr>
                        <a:t>Turmas, notas, tarefas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1F2937"/>
                          </a:solidFill>
                        </a:rPr>
                        <a:t>Operações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1F2937"/>
                          </a:solidFill>
                        </a:rPr>
                        <a:t>split, strip, replace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1F2937"/>
                          </a:solidFill>
                        </a:rPr>
                        <a:t>append, remove, sort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2401</Words>
  <Application>Microsoft Office PowerPoint</Application>
  <PresentationFormat>Widescreen</PresentationFormat>
  <Paragraphs>441</Paragraphs>
  <Slides>25</Slides>
  <Notes>25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ANDERSON MARCOLINO PEREIRA DE OLIVEIRA</cp:lastModifiedBy>
  <cp:revision>1</cp:revision>
  <dcterms:modified xsi:type="dcterms:W3CDTF">2026-05-13T00:03:52Z</dcterms:modified>
</cp:coreProperties>
</file>